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질문은 하나입니다. 데이터 크기, 결측률, 범주형 비율, 클래스 불균형이 달라질 때 사전학습 표 모델과 부스팅 모델 중 누가 이기는가. 결론은 "어떤 조건에서 무엇을 쓸지"라는 선택 가이드로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수치는 모두 NVIDIA 블로그에서 가져온 주장입니다. 우리가 직접 검증한 값이 아닙니다. 리더보드 1위는 수십 개 데이터셋 평균이라, 특정 데이터 조건에서의 우열은 따로 봐야 합니다. 이 점이 오늘 실험의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자주 생기는 오해를 먼저 짚습니다. "추가 학습이 없다"는 말은 레이블 없이 쓴다는 뜻이 아닙니다. 과제별 경사하강법이나 트리 학습이 없다는 뜻입니다. 학습 데이터는 여전히 필요하고, 모델에 문맥으로 들어갑니다. 그래서 비용 구조가 달라집니다. 학습·튜닝 비용은 사라지고, 그 대신 예측할 때마다 문맥 전체를 처리하는 추론 비용과 GPU가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사전학습은 전부 합성 데이터로 했습니다. 무작위 인과 그래프에서 표를 계속 생성하고, "문맥을 보고 쿼리 레이블 맞히기"를 수천만 번 반복합니다. 그래서 모델이 배운 것은 특정 도메인 지식이 아니라 "표에서 예측 규칙을 빠르게 추론하는 방법"입니다. 학습 범위가 6만 행·100열이므로, 이를 크게 벗어나면 성능 보장이 없다는 점을 기억해 두세요. 10클래스를 넘는 다중분류는 오류 정정 출력 코드(ECOC)로 확장합니다.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sklearn과 비슷하게 fit/predict API를 쓰지만, fit의 의미가 다릅니다. 학습 행을 모델에 통과시켜 캐시로 저장할 뿐 가중치는 바뀌지 않습니다. num_estimators는 열 순서나 전처리를 바꾼 여러 뷰의 앙상블 개수입니다. 실험 노트북에서도 이 API를 그대로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모두 NVIDIA 블로그와 모델 카드에 명시된 한계입니다. 특히 세 번째, 분포 이동은 실무에서 흔하게 겪습니다. 오늘 실험은 첫 번째와 두 번째 한계 근처, 즉 데이터 크기·결측·범주형 비율이 극단으로 갈 때를 직접 건드려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 실험 설계입니다. 결론을 "Kumo가 이겼다/졌다"로 내지 않고, 각 조건에서 무엇을 써야 하는지로 정리하는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FM과 비교할 때 가장 흔한 함정은 부스팅을 기본값으로만 돌리는 것입니다. 그래서 튜닝 예산을 숫자로 못박았습니다. 반대로 부스팅을 무제한 튜닝하면 비용 비교가 무의미해지므로, 튜닝 시간도 비용에 포함해 함께 봅니다. 학습 행이 1,000개 이하면 3-fold CV, 그보다 많으면 80/20 홀드아웃으로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범주형 축은 주의가 필요합니다. 수치 열을 구간화하면 범주형 비율이 늘지만 정보도 함께 손실됩니다. 그래서 이 축의 결과는 "범주형 + 정보 손실"의 효과로 읽어야 하고, Part A에서 원래부터 범주형이 많은 데이터(adult, credit-g)의 결과와 함께 봐야 합니다. 불균형 축은 학습과 테스트에 같은 양성 비율을 적용합니다.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 지표는 log-loss입니다. 확률 자체의 품질을 보기 때문입니다. 비교 기준선은 부스팅 6종, 즉 세 라이브러리의 기본값과 튜닝 버전 중 테스트에서 가장 좋았던 값으로 잡았습니다. 실무에서는 무엇이 이길지 미리 알 수 없으니, 이 기준선은 부스팅을 실제보다 유리하게 봅니다. 이 기준을 이기면 FM 우위의 근거는 그만큼 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자연 상태에서는 여섯 개 모두 Kumo가 이겼습니다. 기준선은 테스트 결과를 보고 고른 부스팅 최고값이라, 부스팅에 유리한 비교입니다. 다만 이 결과는 로컬 CPU에서 small 모델, seed 하나로 돌린 예비 결과입니다. Colab GPU에서 large 모델로 full 모드를 돌리면 수치가 바뀔 수 있습니다. 차이가 가장 큰 곳은 phoneme이었습니다. 저차원 수치형 데이터로, 특성 상호작용이 복잡한 경우입니다.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크기 축이 가장 흥미롭습니다. 100행에서는 phoneme에서 CatBoost 기본값이 Kumo를 이겼습니다. 이 크기에서는 튜닝이 오히려 독이 되기도 해서, 튜닝한 부스팅보다 기본값이 더 좋았습니다. 1천~3천 행에서 Kumo 우위가 가장 크고, adult 1만 행에서는 차이가 0.005로 줄어듭니다. 동시에 비용이 역전됩니다. Kumo는 문맥이 커질수록 attention 비용이 빠르게 늘어서, CPU 기준 3천 행부터 튜닝한 부스팅보다 느려졌습니다. GPU에서는 교차점이 훨씬 뒤로 밀릴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결측은 Kumo에 불리할 것이라고 예상하기 쉽지만, 결과는 반대였습니다. Kumo는 결측을 대체하지 않고 셀 임베딩 단계에서 따로 처리합니다. 부스팅도 결측을 기본으로 처리하지만, 1,000행에서 결측이 늘면 분할 기준을 찾기 어려워지는 것으로 보입니다. 다만 무작위 결측만 실험했다는 점은 꼭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데이터셋의 방향이 다릅니다. adult에서는 범주형이 늘수록 Kumo의 우위가 줄어 거의 동률이 됩니다. phoneme에서는 오히려 우위가 커집니다. 이 축은 구간화로 정보가 손실되는 효과가 섞여 있어서, 범주형 비율만의 효과로 단정하기 어렵습니다. Part A의 credit-g처럼 원래 범주형이 65%인 데이터에서도 Kumo가 근소하게(−0.009) 이겼다는 점을 함께 보면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불균형이 심해지면 Kumo의 우위가 줄어듭니다. adult에서 양성 3%가 되면 log-loss는 동률이고, PR-AUC는 오히려 부스팅이 높습니다. 학습 데이터 1,000행 중 양성이 약 30개라는 점에 주목하세요. FM은 문맥의 예시에서 규칙을 추론하는데, 양성 예시가 너무 적으면 그 이점이 약해지는 것으로 보입니다. phoneme에서는 3%에서도 여전히 Kumo가 근소하게 앞섰습니다. 결론을 내리려면 full 모드에서 seed를 늘려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보정은 FM 두 개가 가장 좋았습니다. 확률 값을 그대로 의사결정에 쓰는 경우, 예를 들어 위험 점수나 기대 비용 계산에서는 이 점이 AUC보다 중요할 수 있습니다. 비용은 하드웨어에 크게 좌우됩니다. 여기 시간은 Mac CPU 단일 스레드 기준이라, GPU에서는 FM이 훨씬 빨라집니다. 그래서 이 표는 순서 정도로만 보시면 됩니다. 의외의 결과는 CatBoost였습니다. 기본값이 이미 잘 맞춰져 있어서, 10회 정도의 튜닝으로는 오히려 나빠졌습니다.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결론입니다. 중간 크기 데이터에서 GPU를 쓸 수 있다면, 먼저 FM을 기준선으로 돌려 보는 것이 합리적입니다. 튜닝 없이도 튜닝한 부스팅보다 좋았습니다. 반면 아주 작은 데이터, 아주 큰 데이터, 극단적인 불균형, 범주형 위주 데이터에서는 차이가 작거나 뒤집혔습니다. 이때는 비용과 운영 조건으로 결정하면 됩니다. 모든 판단은 seed 하나, 데이터셋 두 개의 예비 결과입니다. full 모드로 돌린 뒤 이 표를 업데이트할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과신하지 않도록 한계를 먼저 공유합니다. 가장 큰 변수는 튜닝 예산과 표본 수입니다. 특히 MCAR 결측은 FM이 잘 처리할 수 있는 가장 쉬운 형태입니다. 실무에서 결측 자체가 정보인 경우는 별도 실험이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마지막은 토론입니다. 1번은 각자 프로젝트 데이터에 오늘 가이드를 대입해 보는 질문입니다. 2번은 비용 관점에서 어떤 선택이 합리적인지 묻는 질문입니다. 3번은 FM의 구조적 특성인 "추론마다 문맥 재처리"가 서빙에 주는 영향을 다룹니다. 4번은 다음 세미나에서 이어 갈 실험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5820"/>
            <a:ext cx="10566400" cy="452735"/>
          </a:xfrm>
          <a:prstGeom prst="rect">
            <a:avLst/>
          </a:prstGeom>
          <a:noFill/>
          <a:ln/>
        </p:spPr>
        <p:txBody>
          <a:bodyPr wrap="square" lIns="0" tIns="0" rIns="0" bIns="0" rtlCol="0" anchor="t"/>
          <a:lstStyle>
            <a:lvl1pPr algn="l" indent="0" marL="0">
              <a:lnSpc>
                <a:spcPct val="115000"/>
              </a:lnSpc>
              <a:buNone/>
              <a:defRPr lang="en-US" sz="3100" dirty="0">
                <a:solidFill>
                  <a:srgbClr val="16202E"/>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923355"/>
            <a:ext cx="10566400" cy="4121845"/>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5820"/>
            <a:ext cx="10566400" cy="452735"/>
          </a:xfrm>
          <a:prstGeom prst="rect">
            <a:avLst/>
          </a:prstGeom>
          <a:noFill/>
          <a:ln/>
        </p:spPr>
        <p:txBody>
          <a:bodyPr wrap="square" lIns="0" tIns="0" rIns="0" bIns="0" rtlCol="0" anchor="t"/>
          <a:lstStyle>
            <a:lvl1pPr algn="l" indent="0" marL="0">
              <a:lnSpc>
                <a:spcPct val="115000"/>
              </a:lnSpc>
              <a:buNone/>
              <a:defRPr lang="en-US" sz="3100" dirty="0">
                <a:solidFill>
                  <a:srgbClr val="16202E"/>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923355"/>
            <a:ext cx="10566400" cy="4121845"/>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18923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8FB4F2"/>
                </a:solidFill>
                <a:latin typeface="JetBrains Mono" pitchFamily="49" charset="0"/>
                <a:ea typeface="JetBrains Mono" pitchFamily="49" charset="-122"/>
                <a:cs typeface="JetBrains Mono" pitchFamily="49" charset="-120"/>
              </a:rPr>
              <a:t>AI 파트 스터디 · 2026.10.06</a:t>
            </a:r>
            <a:endParaRPr lang="en-US" sz="1400" dirty="0"/>
          </a:p>
        </p:txBody>
      </p:sp>
      <p:sp>
        <p:nvSpPr>
          <p:cNvPr id="3" name="Text 1"/>
          <p:cNvSpPr/>
          <p:nvPr>
            <p:ph type="title"/>
          </p:nvPr>
        </p:nvSpPr>
        <p:spPr>
          <a:xfrm>
            <a:off x="812800" y="2395190"/>
            <a:ext cx="10883392" cy="1427460"/>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5F0"/>
                </a:solidFill>
                <a:latin typeface="IBM Plex Sans KR" pitchFamily="34" charset="0"/>
                <a:ea typeface="IBM Plex Sans KR" pitchFamily="34" charset="-122"/>
                <a:cs typeface="IBM Plex Sans KR" pitchFamily="34" charset="-120"/>
              </a:rPr>
              <a:t>Tabular Foundation Model과</a:t>
            </a:r>
            <a:endParaRPr lang="en-US" sz="4800" dirty="0"/>
          </a:p>
          <a:p>
            <a:pPr algn="l" indent="0" marL="0">
              <a:lnSpc>
                <a:spcPts val="5520"/>
              </a:lnSpc>
              <a:buNone/>
            </a:pPr>
            <a:r>
              <a:rPr lang="en-US" sz="4800" b="1" i="0" dirty="0">
                <a:solidFill>
                  <a:srgbClr val="F6F5F0"/>
                </a:solidFill>
                <a:latin typeface="IBM Plex Sans KR" pitchFamily="34" charset="0"/>
                <a:ea typeface="IBM Plex Sans KR" pitchFamily="34" charset="-122"/>
                <a:cs typeface="IBM Plex Sans KR" pitchFamily="34" charset="-120"/>
              </a:rPr>
              <a:t>기존 머신러닝의 조건별 비교</a:t>
            </a:r>
            <a:endParaRPr lang="en-US" sz="4800" dirty="0"/>
          </a:p>
        </p:txBody>
      </p:sp>
      <p:sp>
        <p:nvSpPr>
          <p:cNvPr id="4" name="Text 2"/>
          <p:cNvSpPr/>
          <p:nvPr/>
        </p:nvSpPr>
        <p:spPr>
          <a:xfrm>
            <a:off x="812800" y="405125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2DE"/>
                </a:solidFill>
                <a:latin typeface="IBM Plex Sans KR" pitchFamily="34" charset="0"/>
                <a:ea typeface="IBM Plex Sans KR" pitchFamily="34" charset="-122"/>
                <a:cs typeface="IBM Plex Sans KR" pitchFamily="34" charset="-120"/>
              </a:rPr>
              <a:t>"새 모델이 더 좋은가"가 아니라</a:t>
            </a:r>
            <a:endParaRPr lang="en-US" sz="2000" dirty="0"/>
          </a:p>
          <a:p>
            <a:pPr algn="l" indent="0" marL="0">
              <a:lnSpc>
                <a:spcPts val="2800"/>
              </a:lnSpc>
              <a:buNone/>
            </a:pPr>
            <a:r>
              <a:rPr lang="en-US" sz="2000" b="1" dirty="0">
                <a:solidFill>
                  <a:srgbClr val="F6F5F0"/>
                </a:solidFill>
                <a:latin typeface="IBM Plex Sans KR" pitchFamily="34" charset="0"/>
                <a:ea typeface="IBM Plex Sans KR" pitchFamily="34" charset="-122"/>
                <a:cs typeface="IBM Plex Sans KR" pitchFamily="34" charset="-120"/>
              </a:rPr>
              <a:t>어떤 데이터에서 어떤 모델을 고를 것인가</a:t>
            </a:r>
            <a:endParaRPr lang="en-US" sz="2000" dirty="0"/>
          </a:p>
        </p:txBody>
      </p:sp>
      <p:sp>
        <p:nvSpPr>
          <p:cNvPr id="5" name="Text 3"/>
          <p:cNvSpPr/>
          <p:nvPr/>
        </p:nvSpPr>
        <p:spPr>
          <a:xfrm>
            <a:off x="812800" y="6238280"/>
            <a:ext cx="5535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A8"/>
                </a:solidFill>
                <a:latin typeface="IBM Plex Sans KR" pitchFamily="34" charset="0"/>
                <a:ea typeface="IBM Plex Sans KR" pitchFamily="34" charset="-122"/>
                <a:cs typeface="IBM Plex Sans KR" pitchFamily="34" charset="-120"/>
              </a:rPr>
              <a:t>NVIDIA Kumo Tabular · TabICLv2 vs XGBoost · LightGBM · CatBoost</a:t>
            </a:r>
            <a:endParaRPr lang="en-US" sz="1200" dirty="0"/>
          </a:p>
        </p:txBody>
      </p:sp>
      <p:sp>
        <p:nvSpPr>
          <p:cNvPr id="6" name="Text 4"/>
          <p:cNvSpPr/>
          <p:nvPr/>
        </p:nvSpPr>
        <p:spPr>
          <a:xfrm>
            <a:off x="10404435" y="6238280"/>
            <a:ext cx="9747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7A8"/>
                </a:solidFill>
                <a:latin typeface="IBM Plex Sans KR" pitchFamily="34" charset="0"/>
                <a:ea typeface="IBM Plex Sans KR" pitchFamily="34" charset="-122"/>
                <a:cs typeface="IBM Plex Sans KR" pitchFamily="34" charset="-120"/>
              </a:rPr>
              <a:t>[발표자 이름]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01 · 왜 주목할 만한가</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NVIDIA가 9월 29일 공개한 Kumo Tabular의 주장</a:t>
            </a:r>
            <a:endParaRPr lang="en-US" sz="3200" dirty="0"/>
          </a:p>
        </p:txBody>
      </p:sp>
      <p:sp>
        <p:nvSpPr>
          <p:cNvPr id="4" name="Shape 2"/>
          <p:cNvSpPr/>
          <p:nvPr/>
        </p:nvSpPr>
        <p:spPr>
          <a:xfrm>
            <a:off x="815975" y="1953816"/>
            <a:ext cx="3380284" cy="1591221"/>
          </a:xfrm>
          <a:prstGeom prst="roundRect">
            <a:avLst>
              <a:gd name="adj" fmla="val 6186"/>
            </a:avLst>
          </a:prstGeom>
          <a:solidFill>
            <a:srgbClr val="FFFFFF"/>
          </a:solidFill>
          <a:ln w="6350">
            <a:solidFill>
              <a:srgbClr val="DAD7CC"/>
            </a:solidFill>
            <a:prstDash val="solid"/>
          </a:ln>
        </p:spPr>
      </p:sp>
      <p:sp>
        <p:nvSpPr>
          <p:cNvPr id="5" name="Text 3"/>
          <p:cNvSpPr/>
          <p:nvPr/>
        </p:nvSpPr>
        <p:spPr>
          <a:xfrm>
            <a:off x="1073150" y="2210991"/>
            <a:ext cx="295191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A5FC4"/>
                </a:solidFill>
                <a:latin typeface="IBM Plex Sans KR" pitchFamily="34" charset="0"/>
                <a:ea typeface="IBM Plex Sans KR" pitchFamily="34" charset="-122"/>
                <a:cs typeface="IBM Plex Sans KR" pitchFamily="34" charset="-120"/>
              </a:rPr>
              <a:t>1위</a:t>
            </a:r>
            <a:endParaRPr lang="en-US" sz="3600" dirty="0"/>
          </a:p>
        </p:txBody>
      </p:sp>
      <p:sp>
        <p:nvSpPr>
          <p:cNvPr id="6" name="Text 4"/>
          <p:cNvSpPr/>
          <p:nvPr/>
        </p:nvSpPr>
        <p:spPr>
          <a:xfrm>
            <a:off x="1073150" y="2790081"/>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TabArena(Elo 1950), BeyondArena, TALENT 리더보드 종합 순위</a:t>
            </a:r>
            <a:endParaRPr lang="en-US" sz="1400" dirty="0"/>
          </a:p>
        </p:txBody>
      </p:sp>
      <p:sp>
        <p:nvSpPr>
          <p:cNvPr id="7" name="Shape 5"/>
          <p:cNvSpPr/>
          <p:nvPr/>
        </p:nvSpPr>
        <p:spPr>
          <a:xfrm>
            <a:off x="4405809" y="1953816"/>
            <a:ext cx="3380333" cy="1591221"/>
          </a:xfrm>
          <a:prstGeom prst="roundRect">
            <a:avLst>
              <a:gd name="adj" fmla="val 6186"/>
            </a:avLst>
          </a:prstGeom>
          <a:solidFill>
            <a:srgbClr val="FFFFFF"/>
          </a:solidFill>
          <a:ln w="6350">
            <a:solidFill>
              <a:srgbClr val="DAD7CC"/>
            </a:solidFill>
            <a:prstDash val="solid"/>
          </a:ln>
        </p:spPr>
      </p:sp>
      <p:sp>
        <p:nvSpPr>
          <p:cNvPr id="8" name="Text 6"/>
          <p:cNvSpPr/>
          <p:nvPr/>
        </p:nvSpPr>
        <p:spPr>
          <a:xfrm>
            <a:off x="4662984" y="2210991"/>
            <a:ext cx="29519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A5FC4"/>
                </a:solidFill>
                <a:latin typeface="IBM Plex Sans KR" pitchFamily="34" charset="0"/>
                <a:ea typeface="IBM Plex Sans KR" pitchFamily="34" charset="-122"/>
                <a:cs typeface="IBM Plex Sans KR" pitchFamily="34" charset="-120"/>
              </a:rPr>
              <a:t>17×</a:t>
            </a:r>
            <a:endParaRPr lang="en-US" sz="3600" dirty="0"/>
          </a:p>
        </p:txBody>
      </p:sp>
      <p:sp>
        <p:nvSpPr>
          <p:cNvPr id="9" name="Text 7"/>
          <p:cNvSpPr/>
          <p:nvPr/>
        </p:nvSpPr>
        <p:spPr>
          <a:xfrm>
            <a:off x="4662984" y="279008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같은 GPU(RTX 6000 Pro)에서 LimiX-2 대비 TabArena 평가 속도</a:t>
            </a:r>
            <a:endParaRPr lang="en-US" sz="1400" dirty="0"/>
          </a:p>
        </p:txBody>
      </p:sp>
      <p:sp>
        <p:nvSpPr>
          <p:cNvPr id="10" name="Shape 8"/>
          <p:cNvSpPr/>
          <p:nvPr/>
        </p:nvSpPr>
        <p:spPr>
          <a:xfrm>
            <a:off x="7995692" y="1953816"/>
            <a:ext cx="3380284" cy="1591221"/>
          </a:xfrm>
          <a:prstGeom prst="roundRect">
            <a:avLst>
              <a:gd name="adj" fmla="val 6186"/>
            </a:avLst>
          </a:prstGeom>
          <a:solidFill>
            <a:srgbClr val="FFFFFF"/>
          </a:solidFill>
          <a:ln w="6350">
            <a:solidFill>
              <a:srgbClr val="DAD7CC"/>
            </a:solidFill>
            <a:prstDash val="solid"/>
          </a:ln>
        </p:spPr>
      </p:sp>
      <p:sp>
        <p:nvSpPr>
          <p:cNvPr id="11" name="Text 9"/>
          <p:cNvSpPr/>
          <p:nvPr/>
        </p:nvSpPr>
        <p:spPr>
          <a:xfrm>
            <a:off x="8252867" y="2210991"/>
            <a:ext cx="295191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A5FC4"/>
                </a:solidFill>
                <a:latin typeface="IBM Plex Sans KR" pitchFamily="34" charset="0"/>
                <a:ea typeface="IBM Plex Sans KR" pitchFamily="34" charset="-122"/>
                <a:cs typeface="IBM Plex Sans KR" pitchFamily="34" charset="-120"/>
              </a:rPr>
              <a:t>0회</a:t>
            </a:r>
            <a:endParaRPr lang="en-US" sz="3600" dirty="0"/>
          </a:p>
        </p:txBody>
      </p:sp>
      <p:sp>
        <p:nvSpPr>
          <p:cNvPr id="12" name="Text 10"/>
          <p:cNvSpPr/>
          <p:nvPr/>
        </p:nvSpPr>
        <p:spPr>
          <a:xfrm>
            <a:off x="8252867" y="2790081"/>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과제별 가중치 업데이트 횟수. 레이블된 행을 문맥으로 넣어 바로 예측</a:t>
            </a:r>
            <a:endParaRPr lang="en-US" sz="1400" dirty="0"/>
          </a:p>
        </p:txBody>
      </p:sp>
      <p:sp>
        <p:nvSpPr>
          <p:cNvPr id="13" name="Text 11"/>
          <p:cNvSpPr/>
          <p:nvPr/>
        </p:nvSpPr>
        <p:spPr>
          <a:xfrm>
            <a:off x="812800" y="3903811"/>
            <a:ext cx="10883392"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6202E"/>
                </a:solidFill>
                <a:latin typeface="IBM Plex Sans KR" pitchFamily="34" charset="0"/>
                <a:ea typeface="IBM Plex Sans KR" pitchFamily="34" charset="-122"/>
                <a:cs typeface="IBM Plex Sans KR" pitchFamily="34" charset="-120"/>
              </a:rPr>
              <a:t>리더보드 평균은 </a:t>
            </a:r>
            <a:r>
              <a:rPr lang="en-US" sz="1600" b="1" dirty="0">
                <a:solidFill>
                  <a:srgbClr val="16202E"/>
                </a:solidFill>
                <a:latin typeface="IBM Plex Sans KR" pitchFamily="34" charset="0"/>
                <a:ea typeface="IBM Plex Sans KR" pitchFamily="34" charset="-122"/>
                <a:cs typeface="IBM Plex Sans KR" pitchFamily="34" charset="-120"/>
              </a:rPr>
              <a:t>"평균적으로"</a:t>
            </a:r>
            <a:r>
              <a:rPr lang="en-US" sz="1600" dirty="0">
                <a:solidFill>
                  <a:srgbClr val="16202E"/>
                </a:solidFill>
                <a:latin typeface="IBM Plex Sans KR" pitchFamily="34" charset="0"/>
                <a:ea typeface="IBM Plex Sans KR" pitchFamily="34" charset="-122"/>
                <a:cs typeface="IBM Plex Sans KR" pitchFamily="34" charset="-120"/>
              </a:rPr>
              <a:t> 강하다는 뜻입니다. 오늘은 그 평균을 조건별로 쪼개서, </a:t>
            </a:r>
            <a:r>
              <a:rPr lang="en-US" sz="1600" b="1" dirty="0">
                <a:solidFill>
                  <a:srgbClr val="16202E"/>
                </a:solidFill>
                <a:latin typeface="IBM Plex Sans KR" pitchFamily="34" charset="0"/>
                <a:ea typeface="IBM Plex Sans KR" pitchFamily="34" charset="-122"/>
                <a:cs typeface="IBM Plex Sans KR" pitchFamily="34" charset="-120"/>
              </a:rPr>
              <a:t>어디서 이기고 어디서 지는지</a:t>
            </a:r>
            <a:r>
              <a:rPr lang="en-US" sz="1600" dirty="0">
                <a:solidFill>
                  <a:srgbClr val="16202E"/>
                </a:solidFill>
                <a:latin typeface="IBM Plex Sans KR" pitchFamily="34" charset="0"/>
                <a:ea typeface="IBM Plex Sans KR" pitchFamily="34" charset="-122"/>
                <a:cs typeface="IBM Plex Sans KR" pitchFamily="34" charset="-120"/>
              </a:rPr>
              <a:t>를 봅니다.</a:t>
            </a:r>
            <a:endParaRPr lang="en-US" sz="1600" dirty="0"/>
          </a:p>
        </p:txBody>
      </p:sp>
      <p:sp>
        <p:nvSpPr>
          <p:cNvPr id="14" name="Text 1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출처: NVIDIA, "Kumo Tabular Sets a New Accuracy-Efficiency Frontier for Tabular Prediction", Hugging Face Blog, 2026.09.29</a:t>
            </a:r>
            <a:endParaRPr lang="en-US" sz="1200" dirty="0"/>
          </a:p>
        </p:txBody>
      </p:sp>
      <p:sp>
        <p:nvSpPr>
          <p:cNvPr id="15"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02 · 용어 정리</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"추가 학습이 없다" ≠ "레이블이 필요 없다"</a:t>
            </a:r>
            <a:endParaRPr lang="en-US" sz="3200" dirty="0"/>
          </a:p>
        </p:txBody>
      </p:sp>
      <p:sp>
        <p:nvSpPr>
          <p:cNvPr id="4" name="Shape 2"/>
          <p:cNvSpPr/>
          <p:nvPr/>
        </p:nvSpPr>
        <p:spPr>
          <a:xfrm>
            <a:off x="815975" y="1903016"/>
            <a:ext cx="5149850" cy="2089150"/>
          </a:xfrm>
          <a:prstGeom prst="roundRect">
            <a:avLst>
              <a:gd name="adj" fmla="val 4711"/>
            </a:avLst>
          </a:prstGeom>
          <a:solidFill>
            <a:srgbClr val="FFFFFF"/>
          </a:solidFill>
          <a:ln w="6350">
            <a:solidFill>
              <a:srgbClr val="DAD7CC"/>
            </a:solidFill>
            <a:prstDash val="solid"/>
          </a:ln>
        </p:spPr>
      </p:sp>
      <p:sp>
        <p:nvSpPr>
          <p:cNvPr id="5" name="Text 3"/>
          <p:cNvSpPr/>
          <p:nvPr/>
        </p:nvSpPr>
        <p:spPr>
          <a:xfrm>
            <a:off x="1073150" y="2160191"/>
            <a:ext cx="47745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490F"/>
                </a:solidFill>
                <a:latin typeface="IBM Plex Sans KR" pitchFamily="34" charset="0"/>
                <a:ea typeface="IBM Plex Sans KR" pitchFamily="34" charset="-122"/>
                <a:cs typeface="IBM Plex Sans KR" pitchFamily="34" charset="-120"/>
              </a:rPr>
              <a:t>부스팅 (XGBoost 등)</a:t>
            </a:r>
            <a:endParaRPr lang="en-US" sz="2000" dirty="0"/>
          </a:p>
        </p:txBody>
      </p:sp>
      <p:sp>
        <p:nvSpPr>
          <p:cNvPr id="6" name="Text 4"/>
          <p:cNvSpPr/>
          <p:nvPr/>
        </p:nvSpPr>
        <p:spPr>
          <a:xfrm>
            <a:off x="1116062" y="2591991"/>
            <a:ext cx="4724033" cy="1168400"/>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레이블된 학습 데이터 준비</a:t>
            </a:r>
            <a:endParaRPr lang="en-US" sz="1500" dirty="0"/>
          </a:p>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하이퍼파라미터 탐색 (튜닝)</a:t>
            </a:r>
            <a:endParaRPr lang="en-US" sz="1500" dirty="0"/>
          </a:p>
          <a:p>
            <a:pPr algn="l" marL="211088" indent="-211088">
              <a:lnSpc>
                <a:spcPts val="2250"/>
              </a:lnSpc>
              <a:buSzPct val="100000"/>
              <a:buFontTx/>
              <a:buAutoNum type="arabicPeriod" startAt="1"/>
            </a:pPr>
            <a:r>
              <a:rPr lang="en-US" sz="1500" b="1" dirty="0">
                <a:solidFill>
                  <a:srgbClr val="2F3A4A"/>
                </a:solidFill>
                <a:latin typeface="IBM Plex Sans KR" pitchFamily="34" charset="0"/>
                <a:ea typeface="IBM Plex Sans KR" pitchFamily="34" charset="-122"/>
                <a:cs typeface="IBM Plex Sans KR" pitchFamily="34" charset="-120"/>
              </a:rPr>
              <a:t>과제마다 새 가중치(트리)를 학습</a:t>
            </a:r>
            <a:endParaRPr lang="en-US" sz="1500" dirty="0"/>
          </a:p>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학습된 모델로 새 행 예측</a:t>
            </a:r>
            <a:endParaRPr lang="en-US" sz="1500" dirty="0"/>
          </a:p>
        </p:txBody>
      </p:sp>
      <p:sp>
        <p:nvSpPr>
          <p:cNvPr id="7" name="Shape 5"/>
          <p:cNvSpPr/>
          <p:nvPr/>
        </p:nvSpPr>
        <p:spPr>
          <a:xfrm>
            <a:off x="6226175" y="1903016"/>
            <a:ext cx="5149850" cy="2089150"/>
          </a:xfrm>
          <a:prstGeom prst="roundRect">
            <a:avLst>
              <a:gd name="adj" fmla="val 4711"/>
            </a:avLst>
          </a:prstGeom>
          <a:solidFill>
            <a:srgbClr val="FFFFFF"/>
          </a:solidFill>
          <a:ln w="6350">
            <a:solidFill>
              <a:srgbClr val="DAD7CC"/>
            </a:solidFill>
            <a:prstDash val="solid"/>
          </a:ln>
        </p:spPr>
      </p:sp>
      <p:sp>
        <p:nvSpPr>
          <p:cNvPr id="8" name="Text 6"/>
          <p:cNvSpPr/>
          <p:nvPr/>
        </p:nvSpPr>
        <p:spPr>
          <a:xfrm>
            <a:off x="6483350" y="2160191"/>
            <a:ext cx="47745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A5FC4"/>
                </a:solidFill>
                <a:latin typeface="IBM Plex Sans KR" pitchFamily="34" charset="0"/>
                <a:ea typeface="IBM Plex Sans KR" pitchFamily="34" charset="-122"/>
                <a:cs typeface="IBM Plex Sans KR" pitchFamily="34" charset="-120"/>
              </a:rPr>
              <a:t>Tabular Foundation Model</a:t>
            </a:r>
            <a:endParaRPr lang="en-US" sz="2000" dirty="0"/>
          </a:p>
        </p:txBody>
      </p:sp>
      <p:sp>
        <p:nvSpPr>
          <p:cNvPr id="9" name="Text 7"/>
          <p:cNvSpPr/>
          <p:nvPr/>
        </p:nvSpPr>
        <p:spPr>
          <a:xfrm>
            <a:off x="6526262" y="2591991"/>
            <a:ext cx="4724033" cy="1168400"/>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레이블된 학습 데이터 준비 </a:t>
            </a:r>
            <a:r>
              <a:rPr lang="en-US" sz="1500" b="1" dirty="0">
                <a:solidFill>
                  <a:srgbClr val="2F3A4A"/>
                </a:solidFill>
                <a:latin typeface="IBM Plex Sans KR" pitchFamily="34" charset="0"/>
                <a:ea typeface="IBM Plex Sans KR" pitchFamily="34" charset="-122"/>
                <a:cs typeface="IBM Plex Sans KR" pitchFamily="34" charset="-120"/>
              </a:rPr>
              <a:t>(똑같이 필요)</a:t>
            </a:r>
            <a:endParaRPr lang="en-US" sz="1500" dirty="0"/>
          </a:p>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튜닝 없음</a:t>
            </a:r>
            <a:endParaRPr lang="en-US" sz="1500" dirty="0"/>
          </a:p>
          <a:p>
            <a:pPr algn="l" marL="211088" indent="-211088">
              <a:lnSpc>
                <a:spcPts val="2250"/>
              </a:lnSpc>
              <a:buSzPct val="100000"/>
              <a:buFontTx/>
              <a:buAutoNum type="arabicPeriod" startAt="1"/>
            </a:pPr>
            <a:r>
              <a:rPr lang="en-US" sz="1500" b="1" dirty="0">
                <a:solidFill>
                  <a:srgbClr val="2F3A4A"/>
                </a:solidFill>
                <a:latin typeface="IBM Plex Sans KR" pitchFamily="34" charset="0"/>
                <a:ea typeface="IBM Plex Sans KR" pitchFamily="34" charset="-122"/>
                <a:cs typeface="IBM Plex Sans KR" pitchFamily="34" charset="-120"/>
              </a:rPr>
              <a:t>가중치는 고정</a:t>
            </a:r>
            <a:r>
              <a:rPr lang="en-US" sz="1500" dirty="0">
                <a:solidFill>
                  <a:srgbClr val="2F3A4A"/>
                </a:solidFill>
                <a:latin typeface="IBM Plex Sans KR" pitchFamily="34" charset="0"/>
                <a:ea typeface="IBM Plex Sans KR" pitchFamily="34" charset="-122"/>
                <a:cs typeface="IBM Plex Sans KR" pitchFamily="34" charset="-120"/>
              </a:rPr>
              <a:t>, 학습 행을 문맥으로 입력</a:t>
            </a:r>
            <a:endParaRPr lang="en-US" sz="1500" dirty="0"/>
          </a:p>
          <a:p>
            <a:pPr algn="l" marL="211088" indent="-211088">
              <a:lnSpc>
                <a:spcPts val="2250"/>
              </a:lnSpc>
              <a:buSzPct val="100000"/>
              <a:buFontTx/>
              <a:buAutoNum type="arabicPeriod" startAt="1"/>
            </a:pPr>
            <a:r>
              <a:rPr lang="en-US" sz="1500" dirty="0">
                <a:solidFill>
                  <a:srgbClr val="2F3A4A"/>
                </a:solidFill>
                <a:latin typeface="IBM Plex Sans KR" pitchFamily="34" charset="0"/>
                <a:ea typeface="IBM Plex Sans KR" pitchFamily="34" charset="-122"/>
                <a:cs typeface="IBM Plex Sans KR" pitchFamily="34" charset="-120"/>
              </a:rPr>
              <a:t>문맥 + 새 행 → 순전파 한 번으로 예측</a:t>
            </a:r>
            <a:endParaRPr lang="en-US" sz="1500" dirty="0"/>
          </a:p>
        </p:txBody>
      </p:sp>
      <p:sp>
        <p:nvSpPr>
          <p:cNvPr id="10" name="Text 8"/>
          <p:cNvSpPr/>
          <p:nvPr/>
        </p:nvSpPr>
        <p:spPr>
          <a:xfrm>
            <a:off x="812800" y="4300141"/>
            <a:ext cx="10883392"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6202E"/>
                </a:solidFill>
                <a:latin typeface="IBM Plex Sans KR" pitchFamily="34" charset="0"/>
                <a:ea typeface="IBM Plex Sans KR" pitchFamily="34" charset="-122"/>
                <a:cs typeface="IBM Plex Sans KR" pitchFamily="34" charset="-120"/>
              </a:rPr>
              <a:t>LLM의 few-shot 프롬프트와 같은 구조입니다. 예시(레이블된 행)를 보여 주고, 학습 없이 답(새 행의 레이블)을 받습니다.</a:t>
            </a:r>
            <a:endParaRPr lang="en-US" sz="16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03 · 구조</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셀 → 행 → 문맥, 세 단계 Transformer</a:t>
            </a:r>
            <a:endParaRPr lang="en-US" sz="3200" dirty="0"/>
          </a:p>
        </p:txBody>
      </p:sp>
      <p:sp>
        <p:nvSpPr>
          <p:cNvPr id="4" name="Shape 2"/>
          <p:cNvSpPr/>
          <p:nvPr/>
        </p:nvSpPr>
        <p:spPr>
          <a:xfrm>
            <a:off x="819150" y="1906191"/>
            <a:ext cx="3204617" cy="1472456"/>
          </a:xfrm>
          <a:prstGeom prst="roundRect">
            <a:avLst>
              <a:gd name="adj" fmla="val 6469"/>
            </a:avLst>
          </a:prstGeom>
          <a:solidFill>
            <a:srgbClr val="FFFFFF"/>
          </a:solidFill>
          <a:ln w="12700">
            <a:solidFill>
              <a:srgbClr val="2A5FC4"/>
            </a:solidFill>
            <a:prstDash val="solid"/>
          </a:ln>
        </p:spPr>
      </p:sp>
      <p:sp>
        <p:nvSpPr>
          <p:cNvPr id="5" name="Text 3"/>
          <p:cNvSpPr/>
          <p:nvPr/>
        </p:nvSpPr>
        <p:spPr>
          <a:xfrm>
            <a:off x="1028700" y="2115741"/>
            <a:ext cx="28690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5FC4"/>
                </a:solidFill>
                <a:latin typeface="IBM Plex Sans KR" pitchFamily="34" charset="0"/>
                <a:ea typeface="IBM Plex Sans KR" pitchFamily="34" charset="-122"/>
                <a:cs typeface="IBM Plex Sans KR" pitchFamily="34" charset="-120"/>
              </a:rPr>
              <a:t>① 셀 임베딩</a:t>
            </a:r>
            <a:endParaRPr lang="en-US" sz="1700" dirty="0"/>
          </a:p>
        </p:txBody>
      </p:sp>
      <p:sp>
        <p:nvSpPr>
          <p:cNvPr id="6" name="Text 4"/>
          <p:cNvSpPr/>
          <p:nvPr/>
        </p:nvSpPr>
        <p:spPr>
          <a:xfrm>
            <a:off x="1028700" y="2451001"/>
            <a:ext cx="286908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F3A4A"/>
                </a:solidFill>
                <a:latin typeface="IBM Plex Sans KR" pitchFamily="34" charset="0"/>
                <a:ea typeface="IBM Plex Sans KR" pitchFamily="34" charset="-122"/>
                <a:cs typeface="IBM Plex Sans KR" pitchFamily="34" charset="-120"/>
              </a:rPr>
              <a:t>수치·범주형 값을 Fourier feature로 변환. </a:t>
            </a:r>
            <a:r>
              <a:rPr lang="en-US" sz="1300" b="1" dirty="0">
                <a:solidFill>
                  <a:srgbClr val="2F3A4A"/>
                </a:solidFill>
                <a:latin typeface="IBM Plex Sans KR" pitchFamily="34" charset="0"/>
                <a:ea typeface="IBM Plex Sans KR" pitchFamily="34" charset="-122"/>
                <a:cs typeface="IBM Plex Sans KR" pitchFamily="34" charset="-120"/>
              </a:rPr>
              <a:t>결측은 대체(imputation) 없이</a:t>
            </a:r>
            <a:r>
              <a:rPr lang="en-US" sz="1300" dirty="0">
                <a:solidFill>
                  <a:srgbClr val="2F3A4A"/>
                </a:solidFill>
                <a:latin typeface="IBM Plex Sans KR" pitchFamily="34" charset="0"/>
                <a:ea typeface="IBM Plex Sans KR" pitchFamily="34" charset="-122"/>
                <a:cs typeface="IBM Plex Sans KR" pitchFamily="34" charset="-120"/>
              </a:rPr>
              <a:t> 별도 처리</a:t>
            </a:r>
            <a:endParaRPr lang="en-US" sz="1300" dirty="0"/>
          </a:p>
        </p:txBody>
      </p:sp>
      <p:pic>
        <p:nvPicPr>
          <p:cNvPr id="7" name="Image 0" descr="connector">    </p:cNvPr>
          <p:cNvPicPr>
            <a:picLocks noChangeAspect="1"/>
          </p:cNvPicPr>
          <p:nvPr/>
        </p:nvPicPr>
        <p:blipFill>
          <a:blip r:embed="rId1"/>
          <a:srcRect l="0" r="0" t="0" b="0"/>
          <a:stretch/>
        </p:blipFill>
        <p:spPr>
          <a:xfrm>
            <a:off x="4030117" y="1899841"/>
            <a:ext cx="457200" cy="127000"/>
          </a:xfrm>
          <a:prstGeom prst="rect">
            <a:avLst/>
          </a:prstGeom>
        </p:spPr>
      </p:pic>
      <p:sp>
        <p:nvSpPr>
          <p:cNvPr id="8" name="Shape 5"/>
          <p:cNvSpPr/>
          <p:nvPr/>
        </p:nvSpPr>
        <p:spPr>
          <a:xfrm>
            <a:off x="4493667" y="1906191"/>
            <a:ext cx="3204666" cy="1472456"/>
          </a:xfrm>
          <a:prstGeom prst="roundRect">
            <a:avLst>
              <a:gd name="adj" fmla="val 6469"/>
            </a:avLst>
          </a:prstGeom>
          <a:solidFill>
            <a:srgbClr val="FFFFFF"/>
          </a:solidFill>
          <a:ln w="12700">
            <a:solidFill>
              <a:srgbClr val="2A5FC4"/>
            </a:solidFill>
            <a:prstDash val="solid"/>
          </a:ln>
        </p:spPr>
      </p:sp>
      <p:sp>
        <p:nvSpPr>
          <p:cNvPr id="9" name="Text 6"/>
          <p:cNvSpPr/>
          <p:nvPr/>
        </p:nvSpPr>
        <p:spPr>
          <a:xfrm>
            <a:off x="4703217" y="2115741"/>
            <a:ext cx="28691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5FC4"/>
                </a:solidFill>
                <a:latin typeface="IBM Plex Sans KR" pitchFamily="34" charset="0"/>
                <a:ea typeface="IBM Plex Sans KR" pitchFamily="34" charset="-122"/>
                <a:cs typeface="IBM Plex Sans KR" pitchFamily="34" charset="-120"/>
              </a:rPr>
              <a:t>② 행 임베딩</a:t>
            </a:r>
            <a:endParaRPr lang="en-US" sz="1700" dirty="0"/>
          </a:p>
        </p:txBody>
      </p:sp>
      <p:sp>
        <p:nvSpPr>
          <p:cNvPr id="10" name="Text 7"/>
          <p:cNvSpPr/>
          <p:nvPr/>
        </p:nvSpPr>
        <p:spPr>
          <a:xfrm>
            <a:off x="4703217" y="2451001"/>
            <a:ext cx="2869133"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F3A4A"/>
                </a:solidFill>
                <a:latin typeface="IBM Plex Sans KR" pitchFamily="34" charset="0"/>
                <a:ea typeface="IBM Plex Sans KR" pitchFamily="34" charset="-122"/>
                <a:cs typeface="IBM Plex Sans KR" pitchFamily="34" charset="-120"/>
              </a:rPr>
              <a:t>열 attention(값 분포)과 행 attention(특성 상호작용)을 번갈아 적용. 행마다 [CLS] 4개로 압축</a:t>
            </a:r>
            <a:endParaRPr lang="en-US" sz="1300" dirty="0"/>
          </a:p>
        </p:txBody>
      </p:sp>
      <p:pic>
        <p:nvPicPr>
          <p:cNvPr id="11" name="Image 1" descr="connector">    </p:cNvPr>
          <p:cNvPicPr>
            <a:picLocks noChangeAspect="1"/>
          </p:cNvPicPr>
          <p:nvPr/>
        </p:nvPicPr>
        <p:blipFill>
          <a:blip r:embed="rId2"/>
          <a:srcRect l="0" r="0" t="0" b="0"/>
          <a:stretch/>
        </p:blipFill>
        <p:spPr>
          <a:xfrm>
            <a:off x="7704683" y="1899841"/>
            <a:ext cx="457200" cy="127000"/>
          </a:xfrm>
          <a:prstGeom prst="rect">
            <a:avLst/>
          </a:prstGeom>
        </p:spPr>
      </p:pic>
      <p:sp>
        <p:nvSpPr>
          <p:cNvPr id="12" name="Shape 8"/>
          <p:cNvSpPr/>
          <p:nvPr/>
        </p:nvSpPr>
        <p:spPr>
          <a:xfrm>
            <a:off x="8168233" y="1906191"/>
            <a:ext cx="3204617" cy="1472456"/>
          </a:xfrm>
          <a:prstGeom prst="roundRect">
            <a:avLst>
              <a:gd name="adj" fmla="val 6469"/>
            </a:avLst>
          </a:prstGeom>
          <a:solidFill>
            <a:srgbClr val="16202E"/>
          </a:solidFill>
          <a:ln w="12700">
            <a:solidFill>
              <a:srgbClr val="16202E"/>
            </a:solidFill>
            <a:prstDash val="solid"/>
          </a:ln>
        </p:spPr>
      </p:sp>
      <p:sp>
        <p:nvSpPr>
          <p:cNvPr id="13" name="Text 9"/>
          <p:cNvSpPr/>
          <p:nvPr/>
        </p:nvSpPr>
        <p:spPr>
          <a:xfrm>
            <a:off x="8377783" y="2115741"/>
            <a:ext cx="28690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FB4F2"/>
                </a:solidFill>
                <a:latin typeface="IBM Plex Sans KR" pitchFamily="34" charset="0"/>
                <a:ea typeface="IBM Plex Sans KR" pitchFamily="34" charset="-122"/>
                <a:cs typeface="IBM Plex Sans KR" pitchFamily="34" charset="-120"/>
              </a:rPr>
              <a:t>③ In-context 예측</a:t>
            </a:r>
            <a:endParaRPr lang="en-US" sz="1700" dirty="0"/>
          </a:p>
        </p:txBody>
      </p:sp>
      <p:sp>
        <p:nvSpPr>
          <p:cNvPr id="14" name="Text 10"/>
          <p:cNvSpPr/>
          <p:nvPr/>
        </p:nvSpPr>
        <p:spPr>
          <a:xfrm>
            <a:off x="8377783" y="2451001"/>
            <a:ext cx="286908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CE3EC"/>
                </a:solidFill>
                <a:latin typeface="IBM Plex Sans KR" pitchFamily="34" charset="0"/>
                <a:ea typeface="IBM Plex Sans KR" pitchFamily="34" charset="-122"/>
                <a:cs typeface="IBM Plex Sans KR" pitchFamily="34" charset="-120"/>
              </a:rPr>
              <a:t>문맥 행끼리 attention, 쿼리 행은 </a:t>
            </a:r>
            <a:r>
              <a:rPr lang="en-US" sz="1300" b="1" dirty="0">
                <a:solidFill>
                  <a:srgbClr val="DCE3EC"/>
                </a:solidFill>
                <a:latin typeface="IBM Plex Sans KR" pitchFamily="34" charset="0"/>
                <a:ea typeface="IBM Plex Sans KR" pitchFamily="34" charset="-122"/>
                <a:cs typeface="IBM Plex Sans KR" pitchFamily="34" charset="-120"/>
              </a:rPr>
              <a:t>문맥만</a:t>
            </a:r>
            <a:r>
              <a:rPr lang="en-US" sz="1300" dirty="0">
                <a:solidFill>
                  <a:srgbClr val="DCE3EC"/>
                </a:solidFill>
                <a:latin typeface="IBM Plex Sans KR" pitchFamily="34" charset="0"/>
                <a:ea typeface="IBM Plex Sans KR" pitchFamily="34" charset="-122"/>
                <a:cs typeface="IBM Plex Sans KR" pitchFamily="34" charset="-120"/>
              </a:rPr>
              <a:t> 참조. Test-GQA로 캐시 절감</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702496"/>
          <a:ext cx="10553700" cy="1437283"/>
        </p:xfrm>
        <a:graphic>
          <a:graphicData uri="http://schemas.openxmlformats.org/drawingml/2006/table">
            <a:tbl>
              <a:tblPr/>
              <a:tblGrid>
                <a:gridCol w="2955036"/>
                <a:gridCol w="2532888"/>
                <a:gridCol w="2532888"/>
                <a:gridCol w="2532888"/>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항목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Small</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Medium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Large</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파라미터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28M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(블로그에 미기재)</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215M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사전학습 데이터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합성 표 약 3,500만 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약 7,100만 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약 1억 3,700만 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학습 범위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문맥 최대 6만 행</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최대 100열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1회 순전파 10클래스</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bl>
          </a:graphicData>
        </a:graphic>
      </p:graphicFrame>
      <p:sp>
        <p:nvSpPr>
          <p:cNvPr id="16" name="Text 1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합성 데이터: 구조적 인과 모델(SCM)에서 절차적으로 생성한 표. 실제 데이터는 사전학습에 쓰지 않음</a:t>
            </a:r>
            <a:endParaRPr lang="en-US" sz="12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04 · 사용법</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fit은 문맥 캐시, predict은 순전파</a:t>
            </a:r>
            <a:endParaRPr lang="en-US" sz="3200" dirty="0"/>
          </a:p>
        </p:txBody>
      </p:sp>
      <p:sp>
        <p:nvSpPr>
          <p:cNvPr id="4" name="Text 2"/>
          <p:cNvSpPr/>
          <p:nvPr/>
        </p:nvSpPr>
        <p:spPr>
          <a:xfrm>
            <a:off x="812800" y="1849041"/>
            <a:ext cx="6985000" cy="3106093"/>
          </a:xfrm>
          <a:prstGeom prst="roundRect">
            <a:avLst>
              <a:gd name="adj" fmla="val 3271"/>
            </a:avLst>
          </a:prstGeom>
          <a:solidFill>
            <a:srgbClr val="16202E"/>
          </a:solidFill>
          <a:ln/>
        </p:spPr>
        <p:txBody>
          <a:bodyPr wrap="square" lIns="224242" tIns="224242" rIns="29932" bIns="198842" rtlCol="0" anchor="t">
            <a:normAutofit/>
          </a:bodyPr>
          <a:lstStyle/>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pip install git+https://github.com/</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  NVIDIA/structured-data-models.git</a:t>
            </a:r>
            <a:endParaRPr lang="en-US" sz="1200" dirty="0"/>
          </a:p>
          <a:p>
            <a:pPr algn="l" indent="0" marL="0">
              <a:lnSpc>
                <a:spcPts val="1860"/>
              </a:lnSpc>
              <a:buNone/>
            </a:pPr>
            <a:endParaRPr lang="en-US" sz="1200" dirty="0"/>
          </a:p>
          <a:p>
            <a:pPr algn="l" indent="0" marL="0">
              <a:lnSpc>
                <a:spcPts val="1860"/>
              </a:lnSpc>
              <a:buNone/>
            </a:pPr>
            <a:r>
              <a:rPr lang="en-US" sz="1200" dirty="0">
                <a:solidFill>
                  <a:srgbClr val="8FB4F2"/>
                </a:solidFill>
                <a:latin typeface="JetBrains Mono" pitchFamily="49" charset="0"/>
                <a:ea typeface="JetBrains Mono" pitchFamily="49" charset="-122"/>
                <a:cs typeface="JetBrains Mono" pitchFamily="49" charset="-120"/>
              </a:rPr>
              <a:t>import</a:t>
            </a:r>
            <a:r>
              <a:rPr lang="en-US" sz="1200" dirty="0">
                <a:solidFill>
                  <a:srgbClr val="DCE3EC"/>
                </a:solidFill>
                <a:latin typeface="JetBrains Mono" pitchFamily="49" charset="0"/>
                <a:ea typeface="JetBrains Mono" pitchFamily="49" charset="-122"/>
                <a:cs typeface="JetBrains Mono" pitchFamily="49" charset="-120"/>
              </a:rPr>
              <a:t> sdm</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table = sdm.TableTensor.from_pandas(</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  df, stypes=sdm.infer_stypes(df), device=</a:t>
            </a:r>
            <a:r>
              <a:rPr lang="en-US" sz="1200" dirty="0">
                <a:solidFill>
                  <a:srgbClr val="F2B38A"/>
                </a:solidFill>
                <a:latin typeface="JetBrains Mono" pitchFamily="49" charset="0"/>
                <a:ea typeface="JetBrains Mono" pitchFamily="49" charset="-122"/>
                <a:cs typeface="JetBrains Mono" pitchFamily="49" charset="-120"/>
              </a:rPr>
              <a:t>"cuda"</a:t>
            </a:r>
            <a:r>
              <a:rPr lang="en-US" sz="1200" dirty="0">
                <a:solidFill>
                  <a:srgbClr val="DCE3EC"/>
                </a:solidFill>
                <a:latin typeface="JetBrains Mono" pitchFamily="49" charset="0"/>
                <a:ea typeface="JetBrains Mono" pitchFamily="49" charset="-122"/>
                <a:cs typeface="JetBrains Mono" pitchFamily="49" charset="-120"/>
              </a:rPr>
              <a:t>)</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model = sdm.models.KumoTabular(</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  task=</a:t>
            </a:r>
            <a:r>
              <a:rPr lang="en-US" sz="1200" dirty="0">
                <a:solidFill>
                  <a:srgbClr val="F2B38A"/>
                </a:solidFill>
                <a:latin typeface="JetBrains Mono" pitchFamily="49" charset="0"/>
                <a:ea typeface="JetBrains Mono" pitchFamily="49" charset="-122"/>
                <a:cs typeface="JetBrains Mono" pitchFamily="49" charset="-120"/>
              </a:rPr>
              <a:t>"classification"</a:t>
            </a:r>
            <a:r>
              <a:rPr lang="en-US" sz="1200" dirty="0">
                <a:solidFill>
                  <a:srgbClr val="DCE3EC"/>
                </a:solidFill>
                <a:latin typeface="JetBrains Mono" pitchFamily="49" charset="0"/>
                <a:ea typeface="JetBrains Mono" pitchFamily="49" charset="-122"/>
                <a:cs typeface="JetBrains Mono" pitchFamily="49" charset="-120"/>
              </a:rPr>
              <a:t>, size=</a:t>
            </a:r>
            <a:r>
              <a:rPr lang="en-US" sz="1200" dirty="0">
                <a:solidFill>
                  <a:srgbClr val="F2B38A"/>
                </a:solidFill>
                <a:latin typeface="JetBrains Mono" pitchFamily="49" charset="0"/>
                <a:ea typeface="JetBrains Mono" pitchFamily="49" charset="-122"/>
                <a:cs typeface="JetBrains Mono" pitchFamily="49" charset="-120"/>
              </a:rPr>
              <a:t>"large"</a:t>
            </a:r>
            <a:r>
              <a:rPr lang="en-US" sz="1200" dirty="0">
                <a:solidFill>
                  <a:srgbClr val="DCE3EC"/>
                </a:solidFill>
                <a:latin typeface="JetBrains Mono" pitchFamily="49" charset="0"/>
                <a:ea typeface="JetBrains Mono" pitchFamily="49" charset="-122"/>
                <a:cs typeface="JetBrains Mono" pitchFamily="49" charset="-120"/>
              </a:rPr>
              <a:t>)</a:t>
            </a:r>
            <a:endParaRPr lang="en-US" sz="1200" dirty="0"/>
          </a:p>
          <a:p>
            <a:pPr algn="l" indent="0" marL="0">
              <a:lnSpc>
                <a:spcPts val="1860"/>
              </a:lnSpc>
              <a:buNone/>
            </a:pP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model.fit(x=x_train, y=y_train, num_estimators=8)</a:t>
            </a:r>
            <a:endParaRPr lang="en-US" sz="1200" dirty="0"/>
          </a:p>
          <a:p>
            <a:pPr algn="l" indent="0" marL="0">
              <a:lnSpc>
                <a:spcPts val="1860"/>
              </a:lnSpc>
              <a:buNone/>
            </a:pPr>
            <a:r>
              <a:rPr lang="en-US" sz="1200" dirty="0">
                <a:solidFill>
                  <a:srgbClr val="DCE3EC"/>
                </a:solidFill>
                <a:latin typeface="JetBrains Mono" pitchFamily="49" charset="0"/>
                <a:ea typeface="JetBrains Mono" pitchFamily="49" charset="-122"/>
                <a:cs typeface="JetBrains Mono" pitchFamily="49" charset="-120"/>
              </a:rPr>
              <a:t>proba = model.predict(x_test)</a:t>
            </a:r>
            <a:endParaRPr lang="en-US" sz="1200" dirty="0"/>
          </a:p>
        </p:txBody>
      </p:sp>
      <p:sp>
        <p:nvSpPr>
          <p:cNvPr id="5" name="Text 3"/>
          <p:cNvSpPr/>
          <p:nvPr/>
        </p:nvSpPr>
        <p:spPr>
          <a:xfrm>
            <a:off x="8102600" y="1849041"/>
            <a:ext cx="33748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전처리가 거의 없음</a:t>
            </a:r>
            <a:endParaRPr lang="en-US" sz="1600" dirty="0"/>
          </a:p>
        </p:txBody>
      </p:sp>
      <p:sp>
        <p:nvSpPr>
          <p:cNvPr id="6" name="Text 4"/>
          <p:cNvSpPr/>
          <p:nvPr/>
        </p:nvSpPr>
        <p:spPr>
          <a:xfrm>
            <a:off x="8102600" y="2143671"/>
            <a:ext cx="337489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범주형·결측을 그대로 넣고, 타입은 </a:t>
            </a:r>
            <a:r>
              <a:rPr lang="en-US" sz="1300" b="1" dirty="0">
                <a:solidFill>
                  <a:srgbClr val="4A5568"/>
                </a:solidFill>
                <a:latin typeface="IBM Plex Sans KR" pitchFamily="34" charset="0"/>
                <a:ea typeface="IBM Plex Sans KR" pitchFamily="34" charset="-122"/>
                <a:cs typeface="IBM Plex Sans KR" pitchFamily="34" charset="-120"/>
              </a:rPr>
              <a:t>infer_stypes</a:t>
            </a:r>
            <a:r>
              <a:rPr lang="en-US" sz="1300" dirty="0">
                <a:solidFill>
                  <a:srgbClr val="4A5568"/>
                </a:solidFill>
                <a:latin typeface="IBM Plex Sans KR" pitchFamily="34" charset="0"/>
                <a:ea typeface="IBM Plex Sans KR" pitchFamily="34" charset="-122"/>
                <a:cs typeface="IBM Plex Sans KR" pitchFamily="34" charset="-120"/>
              </a:rPr>
              <a:t>가 추론</a:t>
            </a:r>
            <a:endParaRPr lang="en-US" sz="1300" dirty="0"/>
          </a:p>
        </p:txBody>
      </p:sp>
      <p:sp>
        <p:nvSpPr>
          <p:cNvPr id="7" name="Text 5"/>
          <p:cNvSpPr/>
          <p:nvPr/>
        </p:nvSpPr>
        <p:spPr>
          <a:xfrm>
            <a:off x="8102600" y="2800201"/>
            <a:ext cx="33748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fit ≠ 학습</a:t>
            </a:r>
            <a:endParaRPr lang="en-US" sz="1600" dirty="0"/>
          </a:p>
        </p:txBody>
      </p:sp>
      <p:sp>
        <p:nvSpPr>
          <p:cNvPr id="8" name="Text 6"/>
          <p:cNvSpPr/>
          <p:nvPr/>
        </p:nvSpPr>
        <p:spPr>
          <a:xfrm>
            <a:off x="8102600" y="3094831"/>
            <a:ext cx="337489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학습 행을 인코딩해 KV 캐시로 저장할 뿐, 가중치는 그대로</a:t>
            </a:r>
            <a:endParaRPr lang="en-US" sz="1300" dirty="0"/>
          </a:p>
        </p:txBody>
      </p:sp>
      <p:sp>
        <p:nvSpPr>
          <p:cNvPr id="9" name="Text 7"/>
          <p:cNvSpPr/>
          <p:nvPr/>
        </p:nvSpPr>
        <p:spPr>
          <a:xfrm>
            <a:off x="8102600" y="3751362"/>
            <a:ext cx="33748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같은 라이브러리에 TabICLv2</a:t>
            </a:r>
            <a:endParaRPr lang="en-US" sz="1600" dirty="0"/>
          </a:p>
        </p:txBody>
      </p:sp>
      <p:sp>
        <p:nvSpPr>
          <p:cNvPr id="10" name="Text 8"/>
          <p:cNvSpPr/>
          <p:nvPr/>
        </p:nvSpPr>
        <p:spPr>
          <a:xfrm>
            <a:off x="8102600" y="4045992"/>
            <a:ext cx="3374898"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FM 두 개를 같은 API로 비교할 수 있음</a:t>
            </a:r>
            <a:endParaRPr lang="en-US" sz="1300" dirty="0"/>
          </a:p>
        </p:txBody>
      </p:sp>
      <p:sp>
        <p:nvSpPr>
          <p:cNvPr id="11"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공식 모델 카드: huggingface.co/nvidia/Kumo-Tabular · 가중치는 OpenMDW 1.1 라이선스, 접근 승인 불필요</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A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05 · 공식 자료가 밝힌 한계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NVIDIA도 "배포 전에 검증하라"고 말합니다</a:t>
            </a:r>
            <a:endParaRPr lang="en-US" sz="3200" dirty="0"/>
          </a:p>
        </p:txBody>
      </p:sp>
      <p:sp>
        <p:nvSpPr>
          <p:cNvPr id="4" name="Shape 2"/>
          <p:cNvSpPr/>
          <p:nvPr/>
        </p:nvSpPr>
        <p:spPr>
          <a:xfrm>
            <a:off x="812800" y="1906191"/>
            <a:ext cx="10566400" cy="0"/>
          </a:xfrm>
          <a:prstGeom prst="line">
            <a:avLst/>
          </a:prstGeom>
          <a:noFill/>
          <a:ln w="12700">
            <a:solidFill>
              <a:srgbClr val="C9C5B8"/>
            </a:solidFill>
            <a:prstDash val="solid"/>
          </a:ln>
        </p:spPr>
      </p:sp>
      <p:pic>
        <p:nvPicPr>
          <p:cNvPr id="5" name="Image 0" descr="Warning">    </p:cNvPr>
          <p:cNvPicPr>
            <a:picLocks noChangeAspect="1"/>
          </p:cNvPicPr>
          <p:nvPr/>
        </p:nvPicPr>
        <p:blipFill>
          <a:blip r:embed="rId1"/>
          <a:srcRect l="0" r="0" t="0" b="0"/>
          <a:stretch/>
        </p:blipFill>
        <p:spPr>
          <a:xfrm>
            <a:off x="812800" y="2193181"/>
            <a:ext cx="406400" cy="406400"/>
          </a:xfrm>
          <a:prstGeom prst="rect">
            <a:avLst/>
          </a:prstGeom>
        </p:spPr>
      </p:pic>
      <p:sp>
        <p:nvSpPr>
          <p:cNvPr id="6" name="Text 3"/>
          <p:cNvSpPr/>
          <p:nvPr/>
        </p:nvSpPr>
        <p:spPr>
          <a:xfrm>
            <a:off x="1625600" y="2115741"/>
            <a:ext cx="100462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입력 타입 제한</a:t>
            </a:r>
            <a:endParaRPr lang="en-US" sz="1800" dirty="0"/>
          </a:p>
        </p:txBody>
      </p:sp>
      <p:sp>
        <p:nvSpPr>
          <p:cNvPr id="7" name="Text 4"/>
          <p:cNvSpPr/>
          <p:nvPr/>
        </p:nvSpPr>
        <p:spPr>
          <a:xfrm>
            <a:off x="1625600" y="2428131"/>
            <a:ext cx="100462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수치형·범주형 열만 지원. 텍스트·이미지·타임스탬프는 미리 전처리해야 함</a:t>
            </a:r>
            <a:endParaRPr lang="en-US" sz="1400" dirty="0"/>
          </a:p>
        </p:txBody>
      </p:sp>
      <p:sp>
        <p:nvSpPr>
          <p:cNvPr id="8" name="Shape 5"/>
          <p:cNvSpPr/>
          <p:nvPr/>
        </p:nvSpPr>
        <p:spPr>
          <a:xfrm>
            <a:off x="812800" y="2886571"/>
            <a:ext cx="10566400" cy="0"/>
          </a:xfrm>
          <a:prstGeom prst="line">
            <a:avLst/>
          </a:prstGeom>
          <a:noFill/>
          <a:ln w="12700">
            <a:solidFill>
              <a:srgbClr val="C9C5B8"/>
            </a:solidFill>
            <a:prstDash val="solid"/>
          </a:ln>
        </p:spPr>
      </p:sp>
      <p:pic>
        <p:nvPicPr>
          <p:cNvPr id="9" name="Image 1" descr="Warning">    </p:cNvPr>
          <p:cNvPicPr>
            <a:picLocks noChangeAspect="1"/>
          </p:cNvPicPr>
          <p:nvPr/>
        </p:nvPicPr>
        <p:blipFill>
          <a:blip r:embed="rId2"/>
          <a:srcRect l="0" r="0" t="0" b="0"/>
          <a:stretch/>
        </p:blipFill>
        <p:spPr>
          <a:xfrm>
            <a:off x="812800" y="3173561"/>
            <a:ext cx="406400" cy="406400"/>
          </a:xfrm>
          <a:prstGeom prst="rect">
            <a:avLst/>
          </a:prstGeom>
        </p:spPr>
      </p:pic>
      <p:sp>
        <p:nvSpPr>
          <p:cNvPr id="10" name="Text 6"/>
          <p:cNvSpPr/>
          <p:nvPr/>
        </p:nvSpPr>
        <p:spPr>
          <a:xfrm>
            <a:off x="1625600" y="3096121"/>
            <a:ext cx="100462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학습 범위 밖의 표</a:t>
            </a:r>
            <a:endParaRPr lang="en-US" sz="1800" dirty="0"/>
          </a:p>
        </p:txBody>
      </p:sp>
      <p:sp>
        <p:nvSpPr>
          <p:cNvPr id="11" name="Text 7"/>
          <p:cNvSpPr/>
          <p:nvPr/>
        </p:nvSpPr>
        <p:spPr>
          <a:xfrm>
            <a:off x="1625600" y="3408511"/>
            <a:ext cx="100462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사전학습 범위(6만 행·100열)를 크게 벗어나면 정확도가 떨어질 수 있음</a:t>
            </a:r>
            <a:endParaRPr lang="en-US" sz="1400" dirty="0"/>
          </a:p>
        </p:txBody>
      </p:sp>
      <p:sp>
        <p:nvSpPr>
          <p:cNvPr id="12" name="Shape 8"/>
          <p:cNvSpPr/>
          <p:nvPr/>
        </p:nvSpPr>
        <p:spPr>
          <a:xfrm>
            <a:off x="812800" y="3866952"/>
            <a:ext cx="10566400" cy="0"/>
          </a:xfrm>
          <a:prstGeom prst="line">
            <a:avLst/>
          </a:prstGeom>
          <a:noFill/>
          <a:ln w="12700">
            <a:solidFill>
              <a:srgbClr val="C9C5B8"/>
            </a:solidFill>
            <a:prstDash val="solid"/>
          </a:ln>
        </p:spPr>
      </p:sp>
      <p:sp>
        <p:nvSpPr>
          <p:cNvPr id="13" name="Shape 9"/>
          <p:cNvSpPr/>
          <p:nvPr/>
        </p:nvSpPr>
        <p:spPr>
          <a:xfrm>
            <a:off x="812800" y="4847332"/>
            <a:ext cx="10566400" cy="0"/>
          </a:xfrm>
          <a:prstGeom prst="line">
            <a:avLst/>
          </a:prstGeom>
          <a:noFill/>
          <a:ln w="12700">
            <a:solidFill>
              <a:srgbClr val="C9C5B8"/>
            </a:solidFill>
            <a:prstDash val="solid"/>
          </a:ln>
        </p:spPr>
      </p:sp>
      <p:pic>
        <p:nvPicPr>
          <p:cNvPr id="14" name="Image 2" descr="Warning">    </p:cNvPr>
          <p:cNvPicPr>
            <a:picLocks noChangeAspect="1"/>
          </p:cNvPicPr>
          <p:nvPr/>
        </p:nvPicPr>
        <p:blipFill>
          <a:blip r:embed="rId3"/>
          <a:srcRect l="0" r="0" t="0" b="0"/>
          <a:stretch/>
        </p:blipFill>
        <p:spPr>
          <a:xfrm>
            <a:off x="812800" y="4153942"/>
            <a:ext cx="406400" cy="406400"/>
          </a:xfrm>
          <a:prstGeom prst="rect">
            <a:avLst/>
          </a:prstGeom>
        </p:spPr>
      </p:pic>
      <p:sp>
        <p:nvSpPr>
          <p:cNvPr id="15" name="Text 10"/>
          <p:cNvSpPr/>
          <p:nvPr/>
        </p:nvSpPr>
        <p:spPr>
          <a:xfrm>
            <a:off x="1625600" y="4076502"/>
            <a:ext cx="100462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분포 이동</a:t>
            </a:r>
            <a:endParaRPr lang="en-US" sz="1800" dirty="0"/>
          </a:p>
        </p:txBody>
      </p:sp>
      <p:sp>
        <p:nvSpPr>
          <p:cNvPr id="16" name="Text 11"/>
          <p:cNvSpPr/>
          <p:nvPr/>
        </p:nvSpPr>
        <p:spPr>
          <a:xfrm>
            <a:off x="1625600" y="4388892"/>
            <a:ext cx="100462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쿼리 행이 문맥 행과 다른 분포에서 오면 성능 저하 가능</a:t>
            </a:r>
            <a:endParaRPr lang="en-US" sz="14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5FC4"/>
        </a:solidFill>
      </p:bgPr>
    </p:bg>
    <p:spTree>
      <p:nvGrpSpPr>
        <p:cNvPr id="1" name=""/>
        <p:cNvGrpSpPr/>
        <p:nvPr/>
      </p:nvGrpSpPr>
      <p:grpSpPr>
        <a:xfrm>
          <a:off x="0" y="0"/>
          <a:ext cx="0" cy="0"/>
          <a:chOff x="0" y="0"/>
          <a:chExt cx="0" cy="0"/>
        </a:xfrm>
      </p:grpSpPr>
      <p:sp>
        <p:nvSpPr>
          <p:cNvPr id="2" name="Text 0"/>
          <p:cNvSpPr/>
          <p:nvPr/>
        </p:nvSpPr>
        <p:spPr>
          <a:xfrm>
            <a:off x="812800" y="188724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DCE6FA"/>
                </a:solidFill>
                <a:latin typeface="JetBrains Mono" pitchFamily="49" charset="0"/>
                <a:ea typeface="JetBrains Mono" pitchFamily="49" charset="-122"/>
                <a:cs typeface="JetBrains Mono" pitchFamily="49" charset="-120"/>
              </a:rPr>
              <a:t>연구 질문</a:t>
            </a:r>
            <a:endParaRPr lang="en-US" sz="1400" dirty="0"/>
          </a:p>
        </p:txBody>
      </p:sp>
      <p:sp>
        <p:nvSpPr>
          <p:cNvPr id="3" name="Text 1"/>
          <p:cNvSpPr/>
          <p:nvPr>
            <p:ph type="title"/>
          </p:nvPr>
        </p:nvSpPr>
        <p:spPr>
          <a:xfrm>
            <a:off x="812800" y="2440930"/>
            <a:ext cx="10883392" cy="1930400"/>
          </a:xfrm>
          <a:prstGeom prst="rect">
            <a:avLst/>
          </a:prstGeom>
          <a:noFill/>
          <a:ln/>
        </p:spPr>
        <p:txBody>
          <a:bodyPr wrap="square" lIns="0" tIns="0" rIns="0" bIns="0" rtlCol="0" anchor="t">
            <a:normAutofit/>
          </a:bodyPr>
          <a:lstStyle/>
          <a:p>
            <a:pPr algn="l" indent="0" marL="0">
              <a:lnSpc>
                <a:spcPts val="5000"/>
              </a:lnSpc>
              <a:buNone/>
            </a:pPr>
            <a:r>
              <a:rPr lang="en-US" sz="4000" b="1" i="0" dirty="0">
                <a:solidFill>
                  <a:srgbClr val="FFFFFF"/>
                </a:solidFill>
                <a:latin typeface="IBM Plex Sans KR" pitchFamily="34" charset="0"/>
                <a:ea typeface="IBM Plex Sans KR" pitchFamily="34" charset="-122"/>
                <a:cs typeface="IBM Plex Sans KR" pitchFamily="34" charset="-120"/>
              </a:rPr>
              <a:t>데이터 크기, 결측률, 범주형 비율, 클래스 불균형에 따라 사전학습 모델과 부스팅 모델의 우위는 어떻게 달라지는가?</a:t>
            </a:r>
            <a:endParaRPr lang="en-US" sz="4000" dirty="0"/>
          </a:p>
        </p:txBody>
      </p:sp>
      <p:sp>
        <p:nvSpPr>
          <p:cNvPr id="4" name="Text 2"/>
          <p:cNvSpPr/>
          <p:nvPr/>
        </p:nvSpPr>
        <p:spPr>
          <a:xfrm>
            <a:off x="812800" y="465073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CE6FA"/>
                </a:solidFill>
                <a:latin typeface="IBM Plex Sans KR" pitchFamily="34" charset="0"/>
                <a:ea typeface="IBM Plex Sans KR" pitchFamily="34" charset="-122"/>
                <a:cs typeface="IBM Plex Sans KR" pitchFamily="34" charset="-120"/>
              </a:rPr>
              <a:t>산출물: 조건별 </a:t>
            </a:r>
            <a:r>
              <a:rPr lang="en-US" sz="1800" b="1" dirty="0">
                <a:solidFill>
                  <a:srgbClr val="FFFFFF"/>
                </a:solidFill>
                <a:latin typeface="IBM Plex Sans KR" pitchFamily="34" charset="0"/>
                <a:ea typeface="IBM Plex Sans KR" pitchFamily="34" charset="-122"/>
                <a:cs typeface="IBM Plex Sans KR" pitchFamily="34" charset="-120"/>
              </a:rPr>
              <a:t>모델 선택 가이드</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06 · 실험 설계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공정한 비교를 위한 세 가지 원칙</a:t>
            </a:r>
            <a:endParaRPr lang="en-US" sz="3200" dirty="0"/>
          </a:p>
        </p:txBody>
      </p:sp>
      <p:sp>
        <p:nvSpPr>
          <p:cNvPr id="4" name="Shape 2"/>
          <p:cNvSpPr/>
          <p:nvPr/>
        </p:nvSpPr>
        <p:spPr>
          <a:xfrm>
            <a:off x="815975" y="1877616"/>
            <a:ext cx="3380284" cy="1593106"/>
          </a:xfrm>
          <a:prstGeom prst="roundRect">
            <a:avLst>
              <a:gd name="adj" fmla="val 6178"/>
            </a:avLst>
          </a:prstGeom>
          <a:solidFill>
            <a:srgbClr val="FFFFFF"/>
          </a:solidFill>
          <a:ln w="6350">
            <a:solidFill>
              <a:srgbClr val="DAD7CC"/>
            </a:solidFill>
            <a:prstDash val="solid"/>
          </a:ln>
        </p:spPr>
      </p:sp>
      <p:sp>
        <p:nvSpPr>
          <p:cNvPr id="5" name="Text 3"/>
          <p:cNvSpPr/>
          <p:nvPr/>
        </p:nvSpPr>
        <p:spPr>
          <a:xfrm>
            <a:off x="1073150" y="2134791"/>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5FC4"/>
                </a:solidFill>
                <a:latin typeface="IBM Plex Sans KR" pitchFamily="34" charset="0"/>
                <a:ea typeface="IBM Plex Sans KR" pitchFamily="34" charset="-122"/>
                <a:cs typeface="IBM Plex Sans KR" pitchFamily="34" charset="-120"/>
              </a:rPr>
              <a:t>1</a:t>
            </a:r>
            <a:r>
              <a:rPr lang="en-US" sz="1700" b="1" dirty="0">
                <a:solidFill>
                  <a:srgbClr val="16202E"/>
                </a:solidFill>
                <a:latin typeface="IBM Plex Sans KR" pitchFamily="34" charset="0"/>
                <a:ea typeface="IBM Plex Sans KR" pitchFamily="34" charset="-122"/>
                <a:cs typeface="IBM Plex Sans KR" pitchFamily="34" charset="-120"/>
              </a:rPr>
              <a:t> · 같은 분할</a:t>
            </a:r>
            <a:endParaRPr lang="en-US" sz="1700" dirty="0"/>
          </a:p>
        </p:txBody>
      </p:sp>
      <p:sp>
        <p:nvSpPr>
          <p:cNvPr id="6" name="Text 4"/>
          <p:cNvSpPr/>
          <p:nvPr/>
        </p:nvSpPr>
        <p:spPr>
          <a:xfrm>
            <a:off x="1073150" y="2495451"/>
            <a:ext cx="295191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(데이터셋, 조건, seed)마다 분할 인덱스·결측 마스크를 고정하고 저장. 모든 모델이 같은 행을 봄</a:t>
            </a:r>
            <a:endParaRPr lang="en-US" sz="1300" dirty="0"/>
          </a:p>
        </p:txBody>
      </p:sp>
      <p:sp>
        <p:nvSpPr>
          <p:cNvPr id="7" name="Shape 5"/>
          <p:cNvSpPr/>
          <p:nvPr/>
        </p:nvSpPr>
        <p:spPr>
          <a:xfrm>
            <a:off x="4405809" y="1877616"/>
            <a:ext cx="3380333" cy="1593106"/>
          </a:xfrm>
          <a:prstGeom prst="roundRect">
            <a:avLst>
              <a:gd name="adj" fmla="val 6178"/>
            </a:avLst>
          </a:prstGeom>
          <a:solidFill>
            <a:srgbClr val="FFFFFF"/>
          </a:solidFill>
          <a:ln w="6350">
            <a:solidFill>
              <a:srgbClr val="DAD7CC"/>
            </a:solidFill>
            <a:prstDash val="solid"/>
          </a:ln>
        </p:spPr>
      </p:sp>
      <p:sp>
        <p:nvSpPr>
          <p:cNvPr id="8" name="Text 6"/>
          <p:cNvSpPr/>
          <p:nvPr/>
        </p:nvSpPr>
        <p:spPr>
          <a:xfrm>
            <a:off x="4662984" y="2134791"/>
            <a:ext cx="295196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5FC4"/>
                </a:solidFill>
                <a:latin typeface="IBM Plex Sans KR" pitchFamily="34" charset="0"/>
                <a:ea typeface="IBM Plex Sans KR" pitchFamily="34" charset="-122"/>
                <a:cs typeface="IBM Plex Sans KR" pitchFamily="34" charset="-120"/>
              </a:rPr>
              <a:t>2</a:t>
            </a:r>
            <a:r>
              <a:rPr lang="en-US" sz="1700" b="1" dirty="0">
                <a:solidFill>
                  <a:srgbClr val="16202E"/>
                </a:solidFill>
                <a:latin typeface="IBM Plex Sans KR" pitchFamily="34" charset="0"/>
                <a:ea typeface="IBM Plex Sans KR" pitchFamily="34" charset="-122"/>
                <a:cs typeface="IBM Plex Sans KR" pitchFamily="34" charset="-120"/>
              </a:rPr>
              <a:t> · 명시적 튜닝 예산</a:t>
            </a:r>
            <a:endParaRPr lang="en-US" sz="1700" dirty="0"/>
          </a:p>
        </p:txBody>
      </p:sp>
      <p:sp>
        <p:nvSpPr>
          <p:cNvPr id="9" name="Text 7"/>
          <p:cNvSpPr/>
          <p:nvPr/>
        </p:nvSpPr>
        <p:spPr>
          <a:xfrm>
            <a:off x="4662984" y="2495451"/>
            <a:ext cx="2951963"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부스팅마다 Optuna TPE N회 (quick 10, full 30). 검증 log-loss를 최소화하고 early stopping 적용</a:t>
            </a:r>
            <a:endParaRPr lang="en-US" sz="1300" dirty="0"/>
          </a:p>
        </p:txBody>
      </p:sp>
      <p:sp>
        <p:nvSpPr>
          <p:cNvPr id="10" name="Shape 8"/>
          <p:cNvSpPr/>
          <p:nvPr/>
        </p:nvSpPr>
        <p:spPr>
          <a:xfrm>
            <a:off x="7995692" y="1877616"/>
            <a:ext cx="3380284" cy="1593106"/>
          </a:xfrm>
          <a:prstGeom prst="roundRect">
            <a:avLst>
              <a:gd name="adj" fmla="val 6178"/>
            </a:avLst>
          </a:prstGeom>
          <a:solidFill>
            <a:srgbClr val="FFFFFF"/>
          </a:solidFill>
          <a:ln w="6350">
            <a:solidFill>
              <a:srgbClr val="DAD7CC"/>
            </a:solidFill>
            <a:prstDash val="solid"/>
          </a:ln>
        </p:spPr>
      </p:sp>
      <p:sp>
        <p:nvSpPr>
          <p:cNvPr id="11" name="Text 9"/>
          <p:cNvSpPr/>
          <p:nvPr/>
        </p:nvSpPr>
        <p:spPr>
          <a:xfrm>
            <a:off x="8252867" y="2134791"/>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5FC4"/>
                </a:solidFill>
                <a:latin typeface="IBM Plex Sans KR" pitchFamily="34" charset="0"/>
                <a:ea typeface="IBM Plex Sans KR" pitchFamily="34" charset="-122"/>
                <a:cs typeface="IBM Plex Sans KR" pitchFamily="34" charset="-120"/>
              </a:rPr>
              <a:t>3</a:t>
            </a:r>
            <a:r>
              <a:rPr lang="en-US" sz="1700" b="1" dirty="0">
                <a:solidFill>
                  <a:srgbClr val="16202E"/>
                </a:solidFill>
                <a:latin typeface="IBM Plex Sans KR" pitchFamily="34" charset="0"/>
                <a:ea typeface="IBM Plex Sans KR" pitchFamily="34" charset="-122"/>
                <a:cs typeface="IBM Plex Sans KR" pitchFamily="34" charset="-120"/>
              </a:rPr>
              <a:t> · 한 번에 한 축</a:t>
            </a:r>
            <a:endParaRPr lang="en-US" sz="1700" dirty="0"/>
          </a:p>
        </p:txBody>
      </p:sp>
      <p:sp>
        <p:nvSpPr>
          <p:cNvPr id="12" name="Text 10"/>
          <p:cNvSpPr/>
          <p:nvPr/>
        </p:nvSpPr>
        <p:spPr>
          <a:xfrm>
            <a:off x="8252867" y="2495451"/>
            <a:ext cx="295191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기준(학습 1,000행, 원래 상태)에서 한 조건만 바꿔 우위의 이동을 측정</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765996"/>
          <a:ext cx="10553700" cy="1437283"/>
        </p:xfrm>
        <a:graphic>
          <a:graphicData uri="http://schemas.openxmlformats.org/drawingml/2006/table">
            <a:tbl>
              <a:tblPr/>
              <a:tblGrid>
                <a:gridCol w="2321814"/>
                <a:gridCol w="8231886"/>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구분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비교 대상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사전학습 모델</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Kumo Tabular (GPU에서는 Large) · TabICLv2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부스팅</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XGBoost · LightGBM · CatBoost × {라이브러리 기본값, 튜닝}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선형 기준선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Logistic Regression (결측 대체 + 원-핫 + 표준화)</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4"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07 · 조건 축</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네 축을 통제된 방식으로 바꿉니다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1796604"/>
        </p:xfrm>
        <a:graphic>
          <a:graphicData uri="http://schemas.openxmlformats.org/drawingml/2006/table">
            <a:tbl>
              <a:tblPr/>
              <a:tblGrid>
                <a:gridCol w="1899666"/>
                <a:gridCol w="3166110"/>
                <a:gridCol w="5487924"/>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수준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구현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데이터 크기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100 · 300 · 1k · 3k · 10k 행</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층화 표집. 테스트는 2,000행으로 고정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결측률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 · 10 · 30 · 50%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학습·테스트 X에 MCAR 결측 주입</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범주형 비율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수치 열의 0 · 50 · 100%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train 분위수 기준 10구간으로 범주화</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클래스 불균형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원래 · 10% · 3% 양성</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음성은 유지하고 양성만 하위표집</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Shape 2"/>
          <p:cNvSpPr/>
          <p:nvPr/>
        </p:nvSpPr>
        <p:spPr>
          <a:xfrm>
            <a:off x="815975" y="3966319"/>
            <a:ext cx="5175250" cy="1170880"/>
          </a:xfrm>
          <a:prstGeom prst="roundRect">
            <a:avLst>
              <a:gd name="adj" fmla="val 8406"/>
            </a:avLst>
          </a:prstGeom>
          <a:solidFill>
            <a:srgbClr val="FFFFFF"/>
          </a:solidFill>
          <a:ln w="6350">
            <a:solidFill>
              <a:srgbClr val="DAD7CC"/>
            </a:solidFill>
            <a:prstDash val="solid"/>
          </a:ln>
        </p:spPr>
      </p:sp>
      <p:sp>
        <p:nvSpPr>
          <p:cNvPr id="6" name="Text 3"/>
          <p:cNvSpPr/>
          <p:nvPr/>
        </p:nvSpPr>
        <p:spPr>
          <a:xfrm>
            <a:off x="1022350" y="4172694"/>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Part A · 자연 상태</a:t>
            </a:r>
            <a:endParaRPr lang="en-US" sz="1500" dirty="0"/>
          </a:p>
        </p:txBody>
      </p:sp>
      <p:sp>
        <p:nvSpPr>
          <p:cNvPr id="7" name="Text 4"/>
          <p:cNvSpPr/>
          <p:nvPr/>
        </p:nvSpPr>
        <p:spPr>
          <a:xfrm>
            <a:off x="1022350" y="4452094"/>
            <a:ext cx="49657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OpenML 공개 데이터셋(quick 6개, full 12개)을 원래 상태 그대로 비교</a:t>
            </a:r>
            <a:endParaRPr lang="en-US" sz="1300" dirty="0"/>
          </a:p>
        </p:txBody>
      </p:sp>
      <p:sp>
        <p:nvSpPr>
          <p:cNvPr id="8" name="Shape 5"/>
          <p:cNvSpPr/>
          <p:nvPr/>
        </p:nvSpPr>
        <p:spPr>
          <a:xfrm>
            <a:off x="6200775" y="3966319"/>
            <a:ext cx="5175250" cy="1170880"/>
          </a:xfrm>
          <a:prstGeom prst="roundRect">
            <a:avLst>
              <a:gd name="adj" fmla="val 8406"/>
            </a:avLst>
          </a:prstGeom>
          <a:solidFill>
            <a:srgbClr val="FFFFFF"/>
          </a:solidFill>
          <a:ln w="6350">
            <a:solidFill>
              <a:srgbClr val="DAD7CC"/>
            </a:solidFill>
            <a:prstDash val="solid"/>
          </a:ln>
        </p:spPr>
      </p:sp>
      <p:sp>
        <p:nvSpPr>
          <p:cNvPr id="9" name="Text 6"/>
          <p:cNvSpPr/>
          <p:nvPr/>
        </p:nvSpPr>
        <p:spPr>
          <a:xfrm>
            <a:off x="6407150" y="4172694"/>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Part B · 통제 실험</a:t>
            </a:r>
            <a:endParaRPr lang="en-US" sz="1500" dirty="0"/>
          </a:p>
        </p:txBody>
      </p:sp>
      <p:sp>
        <p:nvSpPr>
          <p:cNvPr id="10" name="Text 7"/>
          <p:cNvSpPr/>
          <p:nvPr/>
        </p:nvSpPr>
        <p:spPr>
          <a:xfrm>
            <a:off x="6407150" y="4452094"/>
            <a:ext cx="490537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adult · phoneme (full은 bank-marketing · churn 추가)에 위 표의 변환 적용</a:t>
            </a:r>
            <a:endParaRPr lang="en-US" sz="13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08 · 평가</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정확도만이 아니라 보정과 비용까지</a:t>
            </a:r>
            <a:endParaRPr lang="en-US" sz="3200" dirty="0"/>
          </a:p>
        </p:txBody>
      </p:sp>
      <p:sp>
        <p:nvSpPr>
          <p:cNvPr id="4" name="Shape 2"/>
          <p:cNvSpPr/>
          <p:nvPr/>
        </p:nvSpPr>
        <p:spPr>
          <a:xfrm>
            <a:off x="815975" y="1903016"/>
            <a:ext cx="3380284" cy="2012900"/>
          </a:xfrm>
          <a:prstGeom prst="roundRect">
            <a:avLst>
              <a:gd name="adj" fmla="val 4890"/>
            </a:avLst>
          </a:prstGeom>
          <a:solidFill>
            <a:srgbClr val="FFFFFF"/>
          </a:solidFill>
          <a:ln w="6350">
            <a:solidFill>
              <a:srgbClr val="DAD7CC"/>
            </a:solidFill>
            <a:prstDash val="solid"/>
          </a:ln>
        </p:spPr>
      </p:sp>
      <p:sp>
        <p:nvSpPr>
          <p:cNvPr id="5" name="Text 3"/>
          <p:cNvSpPr/>
          <p:nvPr/>
        </p:nvSpPr>
        <p:spPr>
          <a:xfrm>
            <a:off x="1073150" y="2160191"/>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예측 성능</a:t>
            </a:r>
            <a:endParaRPr lang="en-US" sz="1800" dirty="0"/>
          </a:p>
        </p:txBody>
      </p:sp>
      <p:sp>
        <p:nvSpPr>
          <p:cNvPr id="6" name="Text 4"/>
          <p:cNvSpPr/>
          <p:nvPr/>
        </p:nvSpPr>
        <p:spPr>
          <a:xfrm>
            <a:off x="1073150" y="2536081"/>
            <a:ext cx="295191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ROC-AUC</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PR-AUC (불균형용)</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Accuracy</a:t>
            </a:r>
            <a:endParaRPr lang="en-US" sz="1400" dirty="0"/>
          </a:p>
        </p:txBody>
      </p:sp>
      <p:sp>
        <p:nvSpPr>
          <p:cNvPr id="7" name="Text 5"/>
          <p:cNvSpPr/>
          <p:nvPr/>
        </p:nvSpPr>
        <p:spPr>
          <a:xfrm>
            <a:off x="1073150" y="3437781"/>
            <a:ext cx="295191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A7280"/>
                </a:solidFill>
                <a:latin typeface="IBM Plex Sans KR" pitchFamily="34" charset="0"/>
                <a:ea typeface="IBM Plex Sans KR" pitchFamily="34" charset="-122"/>
                <a:cs typeface="IBM Plex Sans KR" pitchFamily="34" charset="-120"/>
              </a:rPr>
              <a:t>순위를 잘 매기는가</a:t>
            </a:r>
            <a:endParaRPr lang="en-US" sz="1200" dirty="0"/>
          </a:p>
        </p:txBody>
      </p:sp>
      <p:sp>
        <p:nvSpPr>
          <p:cNvPr id="8" name="Shape 6"/>
          <p:cNvSpPr/>
          <p:nvPr/>
        </p:nvSpPr>
        <p:spPr>
          <a:xfrm>
            <a:off x="4405809" y="1903016"/>
            <a:ext cx="3380333" cy="2012900"/>
          </a:xfrm>
          <a:prstGeom prst="roundRect">
            <a:avLst>
              <a:gd name="adj" fmla="val 4890"/>
            </a:avLst>
          </a:prstGeom>
          <a:solidFill>
            <a:srgbClr val="FFFFFF"/>
          </a:solidFill>
          <a:ln w="6350">
            <a:solidFill>
              <a:srgbClr val="DAD7CC"/>
            </a:solidFill>
            <a:prstDash val="solid"/>
          </a:ln>
        </p:spPr>
      </p:sp>
      <p:sp>
        <p:nvSpPr>
          <p:cNvPr id="9" name="Text 7"/>
          <p:cNvSpPr/>
          <p:nvPr/>
        </p:nvSpPr>
        <p:spPr>
          <a:xfrm>
            <a:off x="4662984" y="216019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확률 보정</a:t>
            </a:r>
            <a:endParaRPr lang="en-US" sz="1800" dirty="0"/>
          </a:p>
        </p:txBody>
      </p:sp>
      <p:sp>
        <p:nvSpPr>
          <p:cNvPr id="10" name="Text 8"/>
          <p:cNvSpPr/>
          <p:nvPr/>
        </p:nvSpPr>
        <p:spPr>
          <a:xfrm>
            <a:off x="4662984" y="2536081"/>
            <a:ext cx="2951963"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Log-loss</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Brier score</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ECE (15구간)</a:t>
            </a:r>
            <a:endParaRPr lang="en-US" sz="1400" dirty="0"/>
          </a:p>
        </p:txBody>
      </p:sp>
      <p:sp>
        <p:nvSpPr>
          <p:cNvPr id="11" name="Text 9"/>
          <p:cNvSpPr/>
          <p:nvPr/>
        </p:nvSpPr>
        <p:spPr>
          <a:xfrm>
            <a:off x="4662984" y="3437781"/>
            <a:ext cx="295196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A7280"/>
                </a:solidFill>
                <a:latin typeface="IBM Plex Sans KR" pitchFamily="34" charset="0"/>
                <a:ea typeface="IBM Plex Sans KR" pitchFamily="34" charset="-122"/>
                <a:cs typeface="IBM Plex Sans KR" pitchFamily="34" charset="-120"/>
              </a:rPr>
              <a:t>"70%"라고 하면 실제로 70%인가</a:t>
            </a:r>
            <a:endParaRPr lang="en-US" sz="1200" dirty="0"/>
          </a:p>
        </p:txBody>
      </p:sp>
      <p:sp>
        <p:nvSpPr>
          <p:cNvPr id="12" name="Shape 10"/>
          <p:cNvSpPr/>
          <p:nvPr/>
        </p:nvSpPr>
        <p:spPr>
          <a:xfrm>
            <a:off x="7995692" y="1903016"/>
            <a:ext cx="3380284" cy="2012900"/>
          </a:xfrm>
          <a:prstGeom prst="roundRect">
            <a:avLst>
              <a:gd name="adj" fmla="val 4890"/>
            </a:avLst>
          </a:prstGeom>
          <a:solidFill>
            <a:srgbClr val="FFFFFF"/>
          </a:solidFill>
          <a:ln w="6350">
            <a:solidFill>
              <a:srgbClr val="DAD7CC"/>
            </a:solidFill>
            <a:prstDash val="solid"/>
          </a:ln>
        </p:spPr>
      </p:sp>
      <p:sp>
        <p:nvSpPr>
          <p:cNvPr id="13" name="Text 11"/>
          <p:cNvSpPr/>
          <p:nvPr/>
        </p:nvSpPr>
        <p:spPr>
          <a:xfrm>
            <a:off x="8252867" y="2160191"/>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KR" pitchFamily="34" charset="0"/>
                <a:ea typeface="IBM Plex Sans KR" pitchFamily="34" charset="-122"/>
                <a:cs typeface="IBM Plex Sans KR" pitchFamily="34" charset="-120"/>
              </a:rPr>
              <a:t>총비용</a:t>
            </a:r>
            <a:endParaRPr lang="en-US" sz="1800" dirty="0"/>
          </a:p>
        </p:txBody>
      </p:sp>
      <p:sp>
        <p:nvSpPr>
          <p:cNvPr id="14" name="Text 12"/>
          <p:cNvSpPr/>
          <p:nvPr/>
        </p:nvSpPr>
        <p:spPr>
          <a:xfrm>
            <a:off x="8252867" y="2536081"/>
            <a:ext cx="295191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준비 + 튜닝</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 학습(또는 문맥 캐시)</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 추론</a:t>
            </a:r>
            <a:endParaRPr lang="en-US" sz="1400" dirty="0"/>
          </a:p>
        </p:txBody>
      </p:sp>
      <p:sp>
        <p:nvSpPr>
          <p:cNvPr id="15" name="Text 13"/>
          <p:cNvSpPr/>
          <p:nvPr/>
        </p:nvSpPr>
        <p:spPr>
          <a:xfrm>
            <a:off x="8252867" y="3437781"/>
            <a:ext cx="295191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A7280"/>
                </a:solidFill>
                <a:latin typeface="IBM Plex Sans KR" pitchFamily="34" charset="0"/>
                <a:ea typeface="IBM Plex Sans KR" pitchFamily="34" charset="-122"/>
                <a:cs typeface="IBM Plex Sans KR" pitchFamily="34" charset="-120"/>
              </a:rPr>
              <a:t>FM 가중치 로딩은 1회성이라 별도 표기</a:t>
            </a:r>
            <a:endParaRPr lang="en-US" sz="1200" dirty="0"/>
          </a:p>
        </p:txBody>
      </p:sp>
      <p:sp>
        <p:nvSpPr>
          <p:cNvPr id="16" name="Text 14"/>
          <p:cNvSpPr/>
          <p:nvPr/>
        </p:nvSpPr>
        <p:spPr>
          <a:xfrm>
            <a:off x="812800" y="4223891"/>
            <a:ext cx="11379200"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6202E"/>
                </a:solidFill>
                <a:latin typeface="IBM Plex Sans KR" pitchFamily="34" charset="0"/>
                <a:ea typeface="IBM Plex Sans KR" pitchFamily="34" charset="-122"/>
                <a:cs typeface="IBM Plex Sans KR" pitchFamily="34" charset="-120"/>
              </a:rPr>
              <a:t>판단 기준: 조건마다 </a:t>
            </a:r>
            <a:r>
              <a:rPr lang="en-US" sz="1600" b="1" dirty="0">
                <a:solidFill>
                  <a:srgbClr val="16202E"/>
                </a:solidFill>
                <a:latin typeface="IBM Plex Sans KR" pitchFamily="34" charset="0"/>
                <a:ea typeface="IBM Plex Sans KR" pitchFamily="34" charset="-122"/>
                <a:cs typeface="IBM Plex Sans KR" pitchFamily="34" charset="-120"/>
              </a:rPr>
              <a:t>Kumo − (부스팅 6종(기본값·튜닝) 중 최고값)</a:t>
            </a:r>
            <a:r>
              <a:rPr lang="en-US" sz="1600" dirty="0">
                <a:solidFill>
                  <a:srgbClr val="16202E"/>
                </a:solidFill>
                <a:latin typeface="IBM Plex Sans KR" pitchFamily="34" charset="0"/>
                <a:ea typeface="IBM Plex Sans KR" pitchFamily="34" charset="-122"/>
                <a:cs typeface="IBM Plex Sans KR" pitchFamily="34" charset="-120"/>
              </a:rPr>
              <a:t>. 사후에 고른 최고값이므로 </a:t>
            </a:r>
            <a:r>
              <a:rPr lang="en-US" sz="1600" b="1" dirty="0">
                <a:solidFill>
                  <a:srgbClr val="16202E"/>
                </a:solidFill>
                <a:latin typeface="IBM Plex Sans KR" pitchFamily="34" charset="0"/>
                <a:ea typeface="IBM Plex Sans KR" pitchFamily="34" charset="-122"/>
                <a:cs typeface="IBM Plex Sans KR" pitchFamily="34" charset="-120"/>
              </a:rPr>
              <a:t>부스팅에 유리한 보수적 기준</a:t>
            </a:r>
            <a:r>
              <a:rPr lang="en-US" sz="1600" dirty="0">
                <a:solidFill>
                  <a:srgbClr val="16202E"/>
                </a:solidFill>
                <a:latin typeface="IBM Plex Sans KR" pitchFamily="34" charset="0"/>
                <a:ea typeface="IBM Plex Sans KR" pitchFamily="34" charset="-122"/>
                <a:cs typeface="IBM Plex Sans KR" pitchFamily="34" charset="-120"/>
              </a:rPr>
              <a:t>입니다.</a:t>
            </a:r>
            <a:endParaRPr lang="en-US" sz="16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23734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1 · Part A 자연 상태</a:t>
            </a:r>
            <a:endParaRPr lang="en-US" sz="1200" dirty="0"/>
          </a:p>
        </p:txBody>
      </p:sp>
      <p:sp>
        <p:nvSpPr>
          <p:cNvPr id="3" name="Text 1"/>
          <p:cNvSpPr/>
          <p:nvPr/>
        </p:nvSpPr>
        <p:spPr>
          <a:xfrm>
            <a:off x="3186212"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공개 데이터셋 6개에서 Kumo가 모두 log-loss 최저</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2515245"/>
        </p:xfrm>
        <a:graphic>
          <a:graphicData uri="http://schemas.openxmlformats.org/drawingml/2006/table">
            <a:tbl>
              <a:tblPr/>
              <a:tblGrid>
                <a:gridCol w="2110740"/>
                <a:gridCol w="1160907"/>
                <a:gridCol w="1160907"/>
                <a:gridCol w="1266444"/>
                <a:gridCol w="1266444"/>
                <a:gridCol w="2321814"/>
                <a:gridCol w="1266444"/>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데이터셋</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학습 행</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범주형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Kumo</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TabICLv2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부스팅 최고 (모델)</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blood-transfusion</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524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0.455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0.460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0.472 (LGBM-t)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−0.017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credit-g</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700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65%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0.476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0.483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0.486 (CatB-d)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−0.009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kc1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1,477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0.327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0.327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0.350 (CatB-d)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−0.023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churn</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3,500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20%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0.106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0.110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0.137 (LGBM-t)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−0.031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phoneme</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3,783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0.169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0.183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0.232 (CatB-t)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−0.063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adult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5,000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57%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0.282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0.296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0.295 (CatB-t)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2A5FC4"/>
                          </a:solidFill>
                          <a:latin typeface="IBM Plex Sans KR" pitchFamily="34" charset="0"/>
                          <a:ea typeface="IBM Plex Sans KR" pitchFamily="34" charset="-122"/>
                          <a:cs typeface="IBM Plex Sans KR" pitchFamily="34" charset="-120"/>
                        </a:rPr>
                        <a:t>−0.013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Text 3"/>
          <p:cNvSpPr/>
          <p:nvPr/>
        </p:nvSpPr>
        <p:spPr>
          <a:xfrm>
            <a:off x="812800" y="4627215"/>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02E"/>
                </a:solidFill>
                <a:latin typeface="IBM Plex Sans KR" pitchFamily="34" charset="0"/>
                <a:ea typeface="IBM Plex Sans KR" pitchFamily="34" charset="-122"/>
                <a:cs typeface="IBM Plex Sans KR" pitchFamily="34" charset="-120"/>
              </a:rPr>
              <a:t>평균 순위(log-loss): </a:t>
            </a:r>
            <a:r>
              <a:rPr lang="en-US" sz="1500" b="1" dirty="0">
                <a:solidFill>
                  <a:srgbClr val="16202E"/>
                </a:solidFill>
                <a:latin typeface="IBM Plex Sans KR" pitchFamily="34" charset="0"/>
                <a:ea typeface="IBM Plex Sans KR" pitchFamily="34" charset="-122"/>
                <a:cs typeface="IBM Plex Sans KR" pitchFamily="34" charset="-120"/>
              </a:rPr>
              <a:t>Kumo 1.2</a:t>
            </a:r>
            <a:r>
              <a:rPr lang="en-US" sz="1500" dirty="0">
                <a:solidFill>
                  <a:srgbClr val="16202E"/>
                </a:solidFill>
                <a:latin typeface="IBM Plex Sans KR" pitchFamily="34" charset="0"/>
                <a:ea typeface="IBM Plex Sans KR" pitchFamily="34" charset="-122"/>
                <a:cs typeface="IBM Plex Sans KR" pitchFamily="34" charset="-120"/>
              </a:rPr>
              <a:t> · TabICLv2 2.0 · CatBoost-튜닝 4.3 · LGBM-튜닝 4.8 · XGB-튜닝 5.2</a:t>
            </a:r>
            <a:endParaRPr lang="en-US" sz="1500" dirty="0"/>
          </a:p>
        </p:txBody>
      </p:sp>
      <p:sp>
        <p:nvSpPr>
          <p:cNvPr id="7" name="Text 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수치는 test log-loss (낮을수록 좋음). Δ = Kumo − 부스팅 6종(기본값·튜닝) 중 최고값. -t 튜닝, -d 기본값</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788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2 · 데이터 크기</a:t>
            </a:r>
            <a:endParaRPr lang="en-US" sz="1200" dirty="0"/>
          </a:p>
        </p:txBody>
      </p:sp>
      <p:sp>
        <p:nvSpPr>
          <p:cNvPr id="3" name="Text 1"/>
          <p:cNvSpPr/>
          <p:nvPr/>
        </p:nvSpPr>
        <p:spPr>
          <a:xfrm>
            <a:off x="2601764"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우위는 수천 행에서 가장 크고, 양 끝에서 줄어듭니다</a:t>
            </a:r>
            <a:endParaRPr lang="en-US" sz="3000" dirty="0"/>
          </a:p>
        </p:txBody>
      </p:sp>
      <p:sp>
        <p:nvSpPr>
          <p:cNvPr id="5" name="Text 3"/>
          <p:cNvSpPr/>
          <p:nvPr/>
        </p:nvSpPr>
        <p:spPr>
          <a:xfrm>
            <a:off x="812800" y="184527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Δ log-loss = Kumo − 부스팅 6종 최고값 (아래로 갈수록 Kumo 우위)</a:t>
            </a:r>
            <a:endParaRPr lang="en-US" sz="1200" dirty="0"/>
          </a:p>
        </p:txBody>
      </p:sp>
      <p:pic>
        <p:nvPicPr>
          <p:cNvPr id="6" name="Image 0" descr="학습 행 수에 따른 Kumo와 부스팅 최고값의 log-loss 차이. adult는 -0.027, -0.005, -0.010, -0.023, -0.005. phoneme은 +0.033, -0.027, -0.028, -0.084">    </p:cNvPr>
          <p:cNvPicPr>
            <a:picLocks noChangeAspect="1"/>
          </p:cNvPicPr>
          <p:nvPr/>
        </p:nvPicPr>
        <p:blipFill>
          <a:blip r:embed="rId1"/>
          <a:srcRect l="0" r="0" t="0" b="0"/>
          <a:stretch/>
        </p:blipFill>
        <p:spPr>
          <a:xfrm>
            <a:off x="812800" y="2109391"/>
            <a:ext cx="6350000" cy="3175000"/>
          </a:xfrm>
          <a:prstGeom prst="rect">
            <a:avLst/>
          </a:prstGeom>
        </p:spPr>
      </p:pic>
      <p:sp>
        <p:nvSpPr>
          <p:cNvPr id="7" name="Text 4"/>
          <p:cNvSpPr/>
          <p:nvPr/>
        </p:nvSpPr>
        <p:spPr>
          <a:xfrm>
            <a:off x="762000" y="2249091"/>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+0.04</a:t>
            </a:r>
            <a:endParaRPr lang="en-US" sz="1200" dirty="0"/>
          </a:p>
        </p:txBody>
      </p:sp>
      <p:sp>
        <p:nvSpPr>
          <p:cNvPr id="8" name="Text 5"/>
          <p:cNvSpPr/>
          <p:nvPr/>
        </p:nvSpPr>
        <p:spPr>
          <a:xfrm>
            <a:off x="762000" y="3030141"/>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6202E"/>
                </a:solidFill>
                <a:latin typeface="IBM Plex Sans KR" pitchFamily="34" charset="0"/>
                <a:ea typeface="IBM Plex Sans KR" pitchFamily="34" charset="-122"/>
                <a:cs typeface="IBM Plex Sans KR" pitchFamily="34" charset="-120"/>
              </a:rPr>
              <a:t>0</a:t>
            </a:r>
            <a:endParaRPr lang="en-US" sz="1200" dirty="0"/>
          </a:p>
        </p:txBody>
      </p:sp>
      <p:sp>
        <p:nvSpPr>
          <p:cNvPr id="9" name="Text 6"/>
          <p:cNvSpPr/>
          <p:nvPr/>
        </p:nvSpPr>
        <p:spPr>
          <a:xfrm>
            <a:off x="762000" y="3811191"/>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−0.04</a:t>
            </a:r>
            <a:endParaRPr lang="en-US" sz="1200" dirty="0"/>
          </a:p>
        </p:txBody>
      </p:sp>
      <p:sp>
        <p:nvSpPr>
          <p:cNvPr id="10" name="Text 7"/>
          <p:cNvSpPr/>
          <p:nvPr/>
        </p:nvSpPr>
        <p:spPr>
          <a:xfrm>
            <a:off x="762000" y="4592241"/>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−0.08</a:t>
            </a:r>
            <a:endParaRPr lang="en-US" sz="1200" dirty="0"/>
          </a:p>
        </p:txBody>
      </p:sp>
      <p:sp>
        <p:nvSpPr>
          <p:cNvPr id="11" name="Text 8"/>
          <p:cNvSpPr/>
          <p:nvPr/>
        </p:nvSpPr>
        <p:spPr>
          <a:xfrm>
            <a:off x="1485900" y="5004991"/>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100</a:t>
            </a:r>
            <a:endParaRPr lang="en-US" sz="1200" dirty="0"/>
          </a:p>
        </p:txBody>
      </p:sp>
      <p:sp>
        <p:nvSpPr>
          <p:cNvPr id="12" name="Text 9"/>
          <p:cNvSpPr/>
          <p:nvPr/>
        </p:nvSpPr>
        <p:spPr>
          <a:xfrm>
            <a:off x="2692400" y="5004991"/>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300</a:t>
            </a:r>
            <a:endParaRPr lang="en-US" sz="1200" dirty="0"/>
          </a:p>
        </p:txBody>
      </p:sp>
      <p:sp>
        <p:nvSpPr>
          <p:cNvPr id="13" name="Text 10"/>
          <p:cNvSpPr/>
          <p:nvPr/>
        </p:nvSpPr>
        <p:spPr>
          <a:xfrm>
            <a:off x="3898900" y="5004991"/>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1k</a:t>
            </a:r>
            <a:endParaRPr lang="en-US" sz="1200" dirty="0"/>
          </a:p>
        </p:txBody>
      </p:sp>
      <p:sp>
        <p:nvSpPr>
          <p:cNvPr id="14" name="Text 11"/>
          <p:cNvSpPr/>
          <p:nvPr/>
        </p:nvSpPr>
        <p:spPr>
          <a:xfrm>
            <a:off x="5105400" y="5004991"/>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3k</a:t>
            </a:r>
            <a:endParaRPr lang="en-US" sz="1200" dirty="0"/>
          </a:p>
        </p:txBody>
      </p:sp>
      <p:sp>
        <p:nvSpPr>
          <p:cNvPr id="15" name="Text 12"/>
          <p:cNvSpPr/>
          <p:nvPr/>
        </p:nvSpPr>
        <p:spPr>
          <a:xfrm>
            <a:off x="6311900" y="5004991"/>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10k</a:t>
            </a:r>
            <a:endParaRPr lang="en-US" sz="1200" dirty="0"/>
          </a:p>
        </p:txBody>
      </p:sp>
      <p:sp>
        <p:nvSpPr>
          <p:cNvPr id="16" name="Text 13"/>
          <p:cNvSpPr/>
          <p:nvPr/>
        </p:nvSpPr>
        <p:spPr>
          <a:xfrm>
            <a:off x="2019300" y="2363391"/>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phoneme 100행: 부스팅 승 (+0.033)</a:t>
            </a:r>
            <a:endParaRPr lang="en-US" sz="1200" dirty="0"/>
          </a:p>
        </p:txBody>
      </p:sp>
      <p:sp>
        <p:nvSpPr>
          <p:cNvPr id="17" name="Text 14"/>
          <p:cNvSpPr/>
          <p:nvPr/>
        </p:nvSpPr>
        <p:spPr>
          <a:xfrm>
            <a:off x="4622800" y="439539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phoneme 3k: −0.084</a:t>
            </a:r>
            <a:endParaRPr lang="en-US" sz="1200" dirty="0"/>
          </a:p>
        </p:txBody>
      </p:sp>
      <p:sp>
        <p:nvSpPr>
          <p:cNvPr id="18" name="Text 15"/>
          <p:cNvSpPr/>
          <p:nvPr/>
        </p:nvSpPr>
        <p:spPr>
          <a:xfrm>
            <a:off x="5702300" y="280789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5FC4"/>
                </a:solidFill>
                <a:latin typeface="IBM Plex Sans KR" pitchFamily="34" charset="0"/>
                <a:ea typeface="IBM Plex Sans KR" pitchFamily="34" charset="-122"/>
                <a:cs typeface="IBM Plex Sans KR" pitchFamily="34" charset="-120"/>
              </a:rPr>
              <a:t>adult 10k: −0.005</a:t>
            </a:r>
            <a:endParaRPr lang="en-US" sz="1200" dirty="0"/>
          </a:p>
        </p:txBody>
      </p:sp>
      <p:sp>
        <p:nvSpPr>
          <p:cNvPr id="19" name="Text 16"/>
          <p:cNvSpPr/>
          <p:nvPr/>
        </p:nvSpPr>
        <p:spPr>
          <a:xfrm>
            <a:off x="7467600" y="1845270"/>
            <a:ext cx="13949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FC4"/>
                </a:solidFill>
                <a:latin typeface="IBM Plex Sans KR" pitchFamily="34" charset="0"/>
                <a:ea typeface="IBM Plex Sans KR" pitchFamily="34" charset="-122"/>
                <a:cs typeface="IBM Plex Sans KR" pitchFamily="34" charset="-120"/>
              </a:rPr>
              <a:t>— adult</a:t>
            </a:r>
            <a:r>
              <a:rPr lang="en-US" sz="1200" dirty="0">
                <a:solidFill>
                  <a:srgbClr val="2A5FC4"/>
                </a:solidFill>
                <a:latin typeface="IBM Plex Sans KR" pitchFamily="34" charset="0"/>
                <a:ea typeface="IBM Plex Sans KR" pitchFamily="34" charset="-122"/>
                <a:cs typeface="IBM Plex Sans KR" pitchFamily="34" charset="-120"/>
              </a:rPr>
              <a:t> (범주형 多)</a:t>
            </a:r>
            <a:endParaRPr lang="en-US" sz="1200" dirty="0"/>
          </a:p>
        </p:txBody>
      </p:sp>
      <p:sp>
        <p:nvSpPr>
          <p:cNvPr id="20" name="Text 17"/>
          <p:cNvSpPr/>
          <p:nvPr/>
        </p:nvSpPr>
        <p:spPr>
          <a:xfrm>
            <a:off x="8862566" y="1845270"/>
            <a:ext cx="18431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90F"/>
                </a:solidFill>
                <a:latin typeface="IBM Plex Sans KR" pitchFamily="34" charset="0"/>
                <a:ea typeface="IBM Plex Sans KR" pitchFamily="34" charset="-122"/>
                <a:cs typeface="IBM Plex Sans KR" pitchFamily="34" charset="-120"/>
              </a:rPr>
              <a:t>- - phoneme</a:t>
            </a:r>
            <a:r>
              <a:rPr lang="en-US" sz="1200" dirty="0">
                <a:solidFill>
                  <a:srgbClr val="B5490F"/>
                </a:solidFill>
                <a:latin typeface="IBM Plex Sans KR" pitchFamily="34" charset="0"/>
                <a:ea typeface="IBM Plex Sans KR" pitchFamily="34" charset="-122"/>
                <a:cs typeface="IBM Plex Sans KR" pitchFamily="34" charset="-120"/>
              </a:rPr>
              <a:t> (수치 5열)</a:t>
            </a:r>
            <a:endParaRPr lang="en-US" sz="1200" dirty="0"/>
          </a:p>
        </p:txBody>
      </p:sp>
      <p:sp>
        <p:nvSpPr>
          <p:cNvPr id="21" name="Text 18"/>
          <p:cNvSpPr/>
          <p:nvPr/>
        </p:nvSpPr>
        <p:spPr>
          <a:xfrm>
            <a:off x="7467600" y="2210991"/>
            <a:ext cx="402894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비용도 함께 뒤집힘 (adult, CPU)</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480300" y="2619921"/>
          <a:ext cx="3898900" cy="1663402"/>
        </p:xfrm>
        <a:graphic>
          <a:graphicData uri="http://schemas.openxmlformats.org/drawingml/2006/table">
            <a:tbl>
              <a:tblPr/>
              <a:tblGrid>
                <a:gridCol w="1325626"/>
                <a:gridCol w="1286637"/>
                <a:gridCol w="1286637"/>
              </a:tblGrid>
              <a:tr h="332680">
                <a:tc>
                  <a:txBody>
                    <a:bodyPr/>
                    <a:lstStyle/>
                    <a:p>
                      <a:pP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학습 행</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Kumo</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튜닝 3종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5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9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1,000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9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21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3,000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22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15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10,000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106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53 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23" name="Text 1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phoneme은 전체 5,404행이라 10k 조건은 실행 불가. 비용은 준비+튜닝+학습+추론 합계, Mac CPU 단일 스레드 기준</a:t>
            </a:r>
            <a:endParaRPr lang="en-US" sz="1200" dirty="0"/>
          </a:p>
        </p:txBody>
      </p:sp>
      <p:sp>
        <p:nvSpPr>
          <p:cNvPr id="24"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3957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3 · 결측률</a:t>
            </a:r>
            <a:endParaRPr lang="en-US" sz="1200" dirty="0"/>
          </a:p>
        </p:txBody>
      </p:sp>
      <p:sp>
        <p:nvSpPr>
          <p:cNvPr id="3" name="Text 1"/>
          <p:cNvSpPr/>
          <p:nvPr/>
        </p:nvSpPr>
        <p:spPr>
          <a:xfrm>
            <a:off x="2208560"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결측이 50%까지 늘어도 우위가 유지됩니다</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08770"/>
          <a:ext cx="10553700" cy="2178943"/>
        </p:xfrm>
        <a:graphic>
          <a:graphicData uri="http://schemas.openxmlformats.org/drawingml/2006/table">
            <a:tbl>
              <a:tblPr/>
              <a:tblGrid>
                <a:gridCol w="1688592"/>
                <a:gridCol w="1477518"/>
                <a:gridCol w="1477518"/>
                <a:gridCol w="1477518"/>
                <a:gridCol w="1477518"/>
                <a:gridCol w="1477518"/>
                <a:gridCol w="1477518"/>
              </a:tblGrid>
              <a:tr h="634901">
                <a:tc>
                  <a:txBody>
                    <a:bodyPr/>
                    <a:lstStyle/>
                    <a:p>
                      <a:pP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결측률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adult Kumo</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부스팅 최고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phoneme Kumo</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부스팅 최고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0.311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0.320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0.284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−0.028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10%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0.332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0.347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0.331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0.370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−0.039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30%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0.351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0.371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−0.021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0.371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0.403</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−0.032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50%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0.388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0.400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0.434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0.468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−0.034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Shape 3"/>
          <p:cNvSpPr/>
          <p:nvPr/>
        </p:nvSpPr>
        <p:spPr>
          <a:xfrm>
            <a:off x="815975" y="4344888"/>
            <a:ext cx="5175250" cy="1170880"/>
          </a:xfrm>
          <a:prstGeom prst="roundRect">
            <a:avLst>
              <a:gd name="adj" fmla="val 8406"/>
            </a:avLst>
          </a:prstGeom>
          <a:solidFill>
            <a:srgbClr val="FFFFFF"/>
          </a:solidFill>
          <a:ln w="6350">
            <a:solidFill>
              <a:srgbClr val="DAD7CC"/>
            </a:solidFill>
            <a:prstDash val="solid"/>
          </a:ln>
        </p:spPr>
      </p:sp>
      <p:sp>
        <p:nvSpPr>
          <p:cNvPr id="7" name="Text 4"/>
          <p:cNvSpPr/>
          <p:nvPr/>
        </p:nvSpPr>
        <p:spPr>
          <a:xfrm>
            <a:off x="1022350" y="455126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관찰</a:t>
            </a:r>
            <a:endParaRPr lang="en-US" sz="1500" dirty="0"/>
          </a:p>
        </p:txBody>
      </p:sp>
      <p:sp>
        <p:nvSpPr>
          <p:cNvPr id="8" name="Text 5"/>
          <p:cNvSpPr/>
          <p:nvPr/>
        </p:nvSpPr>
        <p:spPr>
          <a:xfrm>
            <a:off x="1022350" y="4830663"/>
            <a:ext cx="490537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결측이 생기면 모두 나빠지지만, Kumo가 덜 나빠집니다. 0%보다 10~30%에서 차이가 커짐</a:t>
            </a:r>
            <a:endParaRPr lang="en-US" sz="1300" dirty="0"/>
          </a:p>
        </p:txBody>
      </p:sp>
      <p:sp>
        <p:nvSpPr>
          <p:cNvPr id="9" name="Shape 6"/>
          <p:cNvSpPr/>
          <p:nvPr/>
        </p:nvSpPr>
        <p:spPr>
          <a:xfrm>
            <a:off x="6200775" y="4344888"/>
            <a:ext cx="5175250" cy="1170880"/>
          </a:xfrm>
          <a:prstGeom prst="roundRect">
            <a:avLst>
              <a:gd name="adj" fmla="val 8406"/>
            </a:avLst>
          </a:prstGeom>
          <a:solidFill>
            <a:srgbClr val="FFFFFF"/>
          </a:solidFill>
          <a:ln w="6350">
            <a:solidFill>
              <a:srgbClr val="DAD7CC"/>
            </a:solidFill>
            <a:prstDash val="solid"/>
          </a:ln>
        </p:spPr>
      </p:sp>
      <p:sp>
        <p:nvSpPr>
          <p:cNvPr id="10" name="Text 7"/>
          <p:cNvSpPr/>
          <p:nvPr/>
        </p:nvSpPr>
        <p:spPr>
          <a:xfrm>
            <a:off x="6407150" y="455126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주의</a:t>
            </a:r>
            <a:endParaRPr lang="en-US" sz="1500" dirty="0"/>
          </a:p>
        </p:txBody>
      </p:sp>
      <p:sp>
        <p:nvSpPr>
          <p:cNvPr id="11" name="Text 8"/>
          <p:cNvSpPr/>
          <p:nvPr/>
        </p:nvSpPr>
        <p:spPr>
          <a:xfrm>
            <a:off x="6407150" y="4830663"/>
            <a:ext cx="490537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무작위(MCAR) 결측만 실험. 결측 자체가 신호인 실제 데이터(MNAR)는 별도 검증 필요</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학습 1,000행 기준. 수치는 test log-loss, Δ = Kumo − 부스팅 6종 최고값</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788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4 · 범주형 비율</a:t>
            </a:r>
            <a:endParaRPr lang="en-US" sz="1200" dirty="0"/>
          </a:p>
        </p:txBody>
      </p:sp>
      <p:sp>
        <p:nvSpPr>
          <p:cNvPr id="3" name="Text 1"/>
          <p:cNvSpPr/>
          <p:nvPr/>
        </p:nvSpPr>
        <p:spPr>
          <a:xfrm>
            <a:off x="2601764"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범주형이 늘어도 순위는 그대로, 차이는 데이터마다 다름</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08770"/>
          <a:ext cx="10553700" cy="1792932"/>
        </p:xfrm>
        <a:graphic>
          <a:graphicData uri="http://schemas.openxmlformats.org/drawingml/2006/table">
            <a:tbl>
              <a:tblPr/>
              <a:tblGrid>
                <a:gridCol w="1688592"/>
                <a:gridCol w="1477518"/>
                <a:gridCol w="1477518"/>
                <a:gridCol w="1477518"/>
                <a:gridCol w="1477518"/>
                <a:gridCol w="1477518"/>
                <a:gridCol w="1477518"/>
              </a:tblGrid>
              <a:tr h="634901">
                <a:tc>
                  <a:txBody>
                    <a:bodyPr/>
                    <a:lstStyle/>
                    <a:p>
                      <a:pP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수치→범주형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adult Kumo</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부스팅 최고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phoneme Kumo</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부스팅 최고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0.311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0.320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0.284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−0.028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50%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0.306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0.311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−0.006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0.279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0.325</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−0.046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100%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0.348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0.352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−0.004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0.322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0.362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−0.040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Shape 3"/>
          <p:cNvSpPr/>
          <p:nvPr/>
        </p:nvSpPr>
        <p:spPr>
          <a:xfrm>
            <a:off x="815975" y="3958878"/>
            <a:ext cx="5175250" cy="1170880"/>
          </a:xfrm>
          <a:prstGeom prst="roundRect">
            <a:avLst>
              <a:gd name="adj" fmla="val 8406"/>
            </a:avLst>
          </a:prstGeom>
          <a:solidFill>
            <a:srgbClr val="FFFFFF"/>
          </a:solidFill>
          <a:ln w="6350">
            <a:solidFill>
              <a:srgbClr val="DAD7CC"/>
            </a:solidFill>
            <a:prstDash val="solid"/>
          </a:ln>
        </p:spPr>
      </p:sp>
      <p:sp>
        <p:nvSpPr>
          <p:cNvPr id="7" name="Text 4"/>
          <p:cNvSpPr/>
          <p:nvPr/>
        </p:nvSpPr>
        <p:spPr>
          <a:xfrm>
            <a:off x="1022350" y="416525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adult: 차이가 0에 가까워짐</a:t>
            </a:r>
            <a:endParaRPr lang="en-US" sz="1500" dirty="0"/>
          </a:p>
        </p:txBody>
      </p:sp>
      <p:sp>
        <p:nvSpPr>
          <p:cNvPr id="8" name="Text 5"/>
          <p:cNvSpPr/>
          <p:nvPr/>
        </p:nvSpPr>
        <p:spPr>
          <a:xfrm>
            <a:off x="1022350" y="4444653"/>
            <a:ext cx="490537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원래 범주형이 57%인 데이터. 전부 범주형이 되면 CatBoost(범주형 특화)가 거의 따라잡음</a:t>
            </a:r>
            <a:endParaRPr lang="en-US" sz="1300" dirty="0"/>
          </a:p>
        </p:txBody>
      </p:sp>
      <p:sp>
        <p:nvSpPr>
          <p:cNvPr id="9" name="Shape 6"/>
          <p:cNvSpPr/>
          <p:nvPr/>
        </p:nvSpPr>
        <p:spPr>
          <a:xfrm>
            <a:off x="6200775" y="3958878"/>
            <a:ext cx="5175250" cy="1170880"/>
          </a:xfrm>
          <a:prstGeom prst="roundRect">
            <a:avLst>
              <a:gd name="adj" fmla="val 8406"/>
            </a:avLst>
          </a:prstGeom>
          <a:solidFill>
            <a:srgbClr val="FFFFFF"/>
          </a:solidFill>
          <a:ln w="6350">
            <a:solidFill>
              <a:srgbClr val="DAD7CC"/>
            </a:solidFill>
            <a:prstDash val="solid"/>
          </a:ln>
        </p:spPr>
      </p:sp>
      <p:sp>
        <p:nvSpPr>
          <p:cNvPr id="10" name="Text 7"/>
          <p:cNvSpPr/>
          <p:nvPr/>
        </p:nvSpPr>
        <p:spPr>
          <a:xfrm>
            <a:off x="6407150" y="4165253"/>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phoneme: 오히려 차이가 커짐</a:t>
            </a:r>
            <a:endParaRPr lang="en-US" sz="1500" dirty="0"/>
          </a:p>
        </p:txBody>
      </p:sp>
      <p:sp>
        <p:nvSpPr>
          <p:cNvPr id="11" name="Text 8"/>
          <p:cNvSpPr/>
          <p:nvPr/>
        </p:nvSpPr>
        <p:spPr>
          <a:xfrm>
            <a:off x="6407150" y="4444653"/>
            <a:ext cx="4905375"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수치 5열을 구간화하자 부스팅이 더 크게 나빠짐</a:t>
            </a:r>
            <a:endParaRPr lang="en-US" sz="1300" dirty="0"/>
          </a:p>
        </p:txBody>
      </p:sp>
      <p:sp>
        <p:nvSpPr>
          <p:cNvPr id="12" name="Text 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구간화는 정보 손실을 동반하므로 "범주형 + 정보 손실" 효과로 해석. 학습 1,000행 기준</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9334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5 · 클래스 불균형</a:t>
            </a:r>
            <a:endParaRPr lang="en-US" sz="1200" dirty="0"/>
          </a:p>
        </p:txBody>
      </p:sp>
      <p:sp>
        <p:nvSpPr>
          <p:cNvPr id="3" name="Text 1"/>
          <p:cNvSpPr/>
          <p:nvPr/>
        </p:nvSpPr>
        <p:spPr>
          <a:xfrm>
            <a:off x="2746276"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양성 3%에서는 우위가 사라집니다</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08770"/>
          <a:ext cx="10553700" cy="1544042"/>
        </p:xfrm>
        <a:graphic>
          <a:graphicData uri="http://schemas.openxmlformats.org/drawingml/2006/table">
            <a:tbl>
              <a:tblPr/>
              <a:tblGrid>
                <a:gridCol w="1688592"/>
                <a:gridCol w="2955036"/>
                <a:gridCol w="2955036"/>
                <a:gridCol w="2955036"/>
              </a:tblGrid>
              <a:tr h="386011">
                <a:tc>
                  <a:txBody>
                    <a:bodyPr/>
                    <a:lstStyle/>
                    <a:p>
                      <a:pP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양성 비율</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adult log-loss 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adult PR-AUC (Kumo / 부스팅)</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2F3A4A"/>
                          </a:solidFill>
                          <a:latin typeface="IBM Plex Sans KR" pitchFamily="34" charset="0"/>
                          <a:ea typeface="IBM Plex Sans KR" pitchFamily="34" charset="-122"/>
                          <a:cs typeface="IBM Plex Sans KR" pitchFamily="34" charset="-120"/>
                        </a:rPr>
                        <a:t>phoneme log-loss 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원래 (24~29%)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0.786 / 0.774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−0.028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10%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0.617 / 0.579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−0.027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3%</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0.000 (동률)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1960"/>
                        </a:lnSpc>
                        <a:buNone/>
                      </a:pPr>
                      <a:r>
                        <a:rPr lang="en-US" sz="1400" dirty="0">
                          <a:solidFill>
                            <a:srgbClr val="2F3A4A"/>
                          </a:solidFill>
                          <a:latin typeface="IBM Plex Sans KR" pitchFamily="34" charset="0"/>
                          <a:ea typeface="IBM Plex Sans KR" pitchFamily="34" charset="-122"/>
                          <a:cs typeface="IBM Plex Sans KR" pitchFamily="34" charset="-120"/>
                        </a:rPr>
                        <a:t>0.369 / 0.378 (부스팅 승)</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1960"/>
                        </a:lnSpc>
                        <a:buNone/>
                      </a:pPr>
                      <a:r>
                        <a:rPr lang="en-US" sz="1400" dirty="0">
                          <a:solidFill>
                            <a:srgbClr val="2A5FC4"/>
                          </a:solidFill>
                          <a:latin typeface="IBM Plex Sans KR" pitchFamily="34" charset="0"/>
                          <a:ea typeface="IBM Plex Sans KR" pitchFamily="34" charset="-122"/>
                          <a:cs typeface="IBM Plex Sans KR" pitchFamily="34" charset="-120"/>
                        </a:rPr>
                        <a:t>−0.008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r>
            </a:tbl>
          </a:graphicData>
        </a:graphic>
      </p:graphicFrame>
      <p:sp>
        <p:nvSpPr>
          <p:cNvPr id="6" name="Shape 3"/>
          <p:cNvSpPr/>
          <p:nvPr/>
        </p:nvSpPr>
        <p:spPr>
          <a:xfrm>
            <a:off x="815975" y="3709988"/>
            <a:ext cx="10560050" cy="1170880"/>
          </a:xfrm>
          <a:prstGeom prst="roundRect">
            <a:avLst>
              <a:gd name="adj" fmla="val 8406"/>
            </a:avLst>
          </a:prstGeom>
          <a:solidFill>
            <a:srgbClr val="FFFFFF"/>
          </a:solidFill>
          <a:ln w="6350">
            <a:solidFill>
              <a:srgbClr val="DAD7CC"/>
            </a:solidFill>
            <a:prstDash val="solid"/>
          </a:ln>
        </p:spPr>
      </p:sp>
      <p:sp>
        <p:nvSpPr>
          <p:cNvPr id="7" name="Text 4"/>
          <p:cNvSpPr/>
          <p:nvPr/>
        </p:nvSpPr>
        <p:spPr>
          <a:xfrm>
            <a:off x="1022350" y="3916362"/>
            <a:ext cx="10451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KR" pitchFamily="34" charset="0"/>
                <a:ea typeface="IBM Plex Sans KR" pitchFamily="34" charset="-122"/>
                <a:cs typeface="IBM Plex Sans KR" pitchFamily="34" charset="-120"/>
              </a:rPr>
              <a:t>adult 3%에서 이긴 모델은 CatBoost 기본값</a:t>
            </a:r>
            <a:endParaRPr lang="en-US" sz="1500" dirty="0"/>
          </a:p>
        </p:txBody>
      </p:sp>
      <p:sp>
        <p:nvSpPr>
          <p:cNvPr id="8" name="Text 5"/>
          <p:cNvSpPr/>
          <p:nvPr/>
        </p:nvSpPr>
        <p:spPr>
          <a:xfrm>
            <a:off x="1022350" y="4195763"/>
            <a:ext cx="1045171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학습 1,000행 중 양성이 약 30개뿐. 문맥 속 양성 예시가 너무 적어 FM이 가진 이점이 줄어드는 것으로 보입니다. 희귀 사건 탐지에서는 PR-AUC로 다시 확인해야 합니다</a:t>
            </a:r>
            <a:endParaRPr lang="en-US" sz="1300" dirty="0"/>
          </a:p>
        </p:txBody>
      </p:sp>
      <p:sp>
        <p:nvSpPr>
          <p:cNvPr id="9"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음성은 유지하고 양성만 하위표집. 학습·테스트 같은 비율. 학습 1,000행 / 테스트 2,000행</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788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 6 · 보정과 비용</a:t>
            </a:r>
            <a:endParaRPr lang="en-US" sz="1200" dirty="0"/>
          </a:p>
        </p:txBody>
      </p:sp>
      <p:sp>
        <p:nvSpPr>
          <p:cNvPr id="3" name="Text 1"/>
          <p:cNvSpPr/>
          <p:nvPr/>
        </p:nvSpPr>
        <p:spPr>
          <a:xfrm>
            <a:off x="2601764" y="812800"/>
            <a:ext cx="3087291" cy="289520"/>
          </a:xfrm>
          <a:custGeom>
            <a:avLst/>
            <a:gdLst/>
            <a:ahLst/>
            <a:cxnLst/>
            <a:rect l="l" t="t" r="r" b="b"/>
            <a:pathLst>
              <a:path w="3087291" h="289520">
                <a:moveTo>
                  <a:pt x="144760" y="0"/>
                </a:moveTo>
                <a:lnTo>
                  <a:pt x="2942530" y="0"/>
                </a:lnTo>
                <a:arcTo hR="144760" wR="144760" stAng="16200000" swAng="5400000"/>
                <a:lnTo>
                  <a:pt x="3087291"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예비 결과 · 로컬 CPU · Kumo-small · seed 1</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보정은 FM이 가장 좋고, 튜닝 없는 부스팅이 가장 쌉니다</a:t>
            </a:r>
            <a:endParaRPr lang="en-US" sz="3000" dirty="0"/>
          </a:p>
        </p:txBody>
      </p:sp>
      <p:sp>
        <p:nvSpPr>
          <p:cNvPr id="5" name="Text 3"/>
          <p:cNvSpPr/>
          <p:nvPr/>
        </p:nvSpPr>
        <p:spPr>
          <a:xfrm>
            <a:off x="812800" y="189607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평균 ECE (낮을수록 보정 우수)</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254200"/>
          <a:ext cx="5118100" cy="1996083"/>
        </p:xfrm>
        <a:graphic>
          <a:graphicData uri="http://schemas.openxmlformats.org/drawingml/2006/table">
            <a:tbl>
              <a:tblPr/>
              <a:tblGrid>
                <a:gridCol w="3070860"/>
                <a:gridCol w="2047240"/>
              </a:tblGrid>
              <a:tr h="332680">
                <a:tc>
                  <a:txBody>
                    <a:bodyPr/>
                    <a:lstStyle/>
                    <a:p>
                      <a:pP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모델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ECE</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Kumo</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0.027</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TabICLv2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0.028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CatBoost 기본값</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0.031</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LGBM 튜닝</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0.032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XGB 기본값</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0.085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7" name="Text 4"/>
          <p:cNvSpPr/>
          <p:nvPr/>
        </p:nvSpPr>
        <p:spPr>
          <a:xfrm>
            <a:off x="6248400" y="1896070"/>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KR" pitchFamily="34" charset="0"/>
                <a:ea typeface="IBM Plex Sans KR" pitchFamily="34" charset="-122"/>
                <a:cs typeface="IBM Plex Sans KR" pitchFamily="34" charset="-120"/>
              </a:rPr>
              <a:t>과제 1건당 총시간 (중앙값, CPU)</a:t>
            </a:r>
            <a:endParaRPr lang="en-US" sz="16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61100" y="2254200"/>
          <a:ext cx="5118100" cy="1996083"/>
        </p:xfrm>
        <a:graphic>
          <a:graphicData uri="http://schemas.openxmlformats.org/drawingml/2006/table">
            <a:tbl>
              <a:tblPr/>
              <a:tblGrid>
                <a:gridCol w="3070860"/>
                <a:gridCol w="2047240"/>
              </a:tblGrid>
              <a:tr h="332680">
                <a:tc>
                  <a:txBody>
                    <a:bodyPr/>
                    <a:lstStyle/>
                    <a:p>
                      <a:pP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모델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80"/>
                        </a:lnSpc>
                        <a:buNone/>
                      </a:pPr>
                      <a:r>
                        <a:rPr lang="en-US" sz="1200" b="1" dirty="0">
                          <a:solidFill>
                            <a:srgbClr val="2F3A4A"/>
                          </a:solidFill>
                          <a:latin typeface="IBM Plex Sans KR" pitchFamily="34" charset="0"/>
                          <a:ea typeface="IBM Plex Sans KR" pitchFamily="34" charset="-122"/>
                          <a:cs typeface="IBM Plex Sans KR" pitchFamily="34" charset="-120"/>
                        </a:rPr>
                        <a:t>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LGBM·XGB 기본값</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0.03</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LGBM·XGB 튜닝 (10회)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0.8 ~ 1.2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CatBoost 기본값</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TabICLv2 · Kumo</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7.3 · 8.4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r h="332680">
                <a:tc>
                  <a:txBody>
                    <a:bodyPr/>
                    <a:lstStyle/>
                    <a:p>
                      <a:pP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CatBoost 튜닝 (10회)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80"/>
                        </a:lnSpc>
                        <a:buNone/>
                      </a:pPr>
                      <a:r>
                        <a:rPr lang="en-US" sz="1200" dirty="0">
                          <a:solidFill>
                            <a:srgbClr val="2F3A4A"/>
                          </a:solidFill>
                          <a:latin typeface="IBM Plex Sans KR" pitchFamily="34" charset="0"/>
                          <a:ea typeface="IBM Plex Sans KR" pitchFamily="34" charset="-122"/>
                          <a:cs typeface="IBM Plex Sans KR" pitchFamily="34" charset="-120"/>
                        </a:rPr>
                        <a:t>15.1</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9" name="Text 5"/>
          <p:cNvSpPr/>
          <p:nvPr/>
        </p:nvSpPr>
        <p:spPr>
          <a:xfrm>
            <a:off x="812800" y="4504283"/>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6202E"/>
                </a:solidFill>
                <a:latin typeface="IBM Plex Sans KR" pitchFamily="34" charset="0"/>
                <a:ea typeface="IBM Plex Sans KR" pitchFamily="34" charset="-122"/>
                <a:cs typeface="IBM Plex Sans KR" pitchFamily="34" charset="-120"/>
              </a:rPr>
              <a:t>눈여겨볼 점: 10회 튜닝한 CatBoost가 </a:t>
            </a:r>
            <a:r>
              <a:rPr lang="en-US" sz="1400" b="1" dirty="0">
                <a:solidFill>
                  <a:srgbClr val="16202E"/>
                </a:solidFill>
                <a:latin typeface="IBM Plex Sans KR" pitchFamily="34" charset="0"/>
                <a:ea typeface="IBM Plex Sans KR" pitchFamily="34" charset="-122"/>
                <a:cs typeface="IBM Plex Sans KR" pitchFamily="34" charset="-120"/>
              </a:rPr>
              <a:t>기본값보다 log-loss·ECE 모두 나빴습니다</a:t>
            </a:r>
            <a:r>
              <a:rPr lang="en-US" sz="1400" dirty="0">
                <a:solidFill>
                  <a:srgbClr val="16202E"/>
                </a:solidFill>
                <a:latin typeface="IBM Plex Sans KR" pitchFamily="34" charset="0"/>
                <a:ea typeface="IBM Plex Sans KR" pitchFamily="34" charset="-122"/>
                <a:cs typeface="IBM Plex Sans KR" pitchFamily="34" charset="-120"/>
              </a:rPr>
              <a:t> (0.335 vs 0.324). 작은 예산의 튜닝은 오히려 손해일 수 있습니다.</a:t>
            </a:r>
            <a:endParaRPr lang="en-US" sz="14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50900"/>
            <a:ext cx="197385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결론 · 모델 선택 가이드</a:t>
            </a:r>
            <a:endParaRPr lang="en-US" sz="1200" dirty="0"/>
          </a:p>
        </p:txBody>
      </p:sp>
      <p:sp>
        <p:nvSpPr>
          <p:cNvPr id="3" name="Text 1"/>
          <p:cNvSpPr/>
          <p:nvPr/>
        </p:nvSpPr>
        <p:spPr>
          <a:xfrm>
            <a:off x="2786658" y="812800"/>
            <a:ext cx="2620466" cy="289520"/>
          </a:xfrm>
          <a:custGeom>
            <a:avLst/>
            <a:gdLst/>
            <a:ahLst/>
            <a:cxnLst/>
            <a:rect l="l" t="t" r="r" b="b"/>
            <a:pathLst>
              <a:path w="2620466" h="289520">
                <a:moveTo>
                  <a:pt x="144760" y="0"/>
                </a:moveTo>
                <a:lnTo>
                  <a:pt x="2475706" y="0"/>
                </a:lnTo>
                <a:arcTo hR="144760" wR="144760" stAng="16200000" swAng="5400000"/>
                <a:lnTo>
                  <a:pt x="2620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9DD"/>
          </a:solidFill>
          <a:ln/>
        </p:spPr>
        <p:txBody>
          <a:bodyPr wrap="none" lIns="0" tIns="0" rIns="0" bIns="0" rtlCol="0" anchor="ctr">
            <a:normAutofit/>
          </a:bodyPr>
          <a:lstStyle/>
          <a:p>
            <a:pPr algn="ctr" indent="0" marL="0">
              <a:lnSpc>
                <a:spcPts val="1680"/>
              </a:lnSpc>
              <a:buNone/>
            </a:pPr>
            <a:r>
              <a:rPr lang="en-US" sz="1200" dirty="0">
                <a:solidFill>
                  <a:srgbClr val="8A3A0E"/>
                </a:solidFill>
                <a:latin typeface="IBM Plex Sans KR" pitchFamily="34" charset="0"/>
                <a:ea typeface="IBM Plex Sans KR" pitchFamily="34" charset="-122"/>
                <a:cs typeface="IBM Plex Sans KR" pitchFamily="34" charset="-120"/>
              </a:rPr>
              <a:t>잠정 · full 모드(seed 3개)로 확인 필요</a:t>
            </a:r>
            <a:endParaRPr lang="en-US" sz="1200" dirty="0"/>
          </a:p>
        </p:txBody>
      </p:sp>
      <p:sp>
        <p:nvSpPr>
          <p:cNvPr id="4" name="Text 2"/>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6202E"/>
                </a:solidFill>
                <a:latin typeface="IBM Plex Sans KR" pitchFamily="34" charset="0"/>
                <a:ea typeface="IBM Plex Sans KR" pitchFamily="34" charset="-122"/>
                <a:cs typeface="IBM Plex Sans KR" pitchFamily="34" charset="-120"/>
              </a:rPr>
              <a:t>어떤 데이터에서 무엇을 고를 것인가</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2874566"/>
        </p:xfrm>
        <a:graphic>
          <a:graphicData uri="http://schemas.openxmlformats.org/drawingml/2006/table">
            <a:tbl>
              <a:tblPr/>
              <a:tblGrid>
                <a:gridCol w="3377184"/>
                <a:gridCol w="2743962"/>
                <a:gridCol w="4432554"/>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데이터 상황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먼저 시도할 모델</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근거 (예비 결과)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학습 300~5,000행, GPU 있음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FM (Kumo)</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모든 셀에서 log-loss 우위, 튜닝 불필요</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학습 100행 안팎</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둘 다 비교 · CatBoost 기본값</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phoneme 100행에서 CatBoost 기본값 승 (+0.033)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1만 행 이상 · CPU만 · 지연 민감</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부스팅 (LGBM/XGB)</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우위 −0.005로 축소, CPU 비용은 2배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결측이 많음 (무작위)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FM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결측 50%까지 우위 유지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범주형 위주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비슷함 · CatBoost도 후보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adult 전부 범주형일 때 Δ −0.004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양성 3% 이하 희귀 사건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비슷함 · PR-AUC로 직접 비교</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adult: log-loss 동률, PR-AUC는 부스팅 승</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확률을 그대로 의사결정에 사용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FM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평균 ECE 최저 (0.027)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bl>
          </a:graphicData>
        </a:graphic>
      </p:graphicFrame>
      <p:sp>
        <p:nvSpPr>
          <p:cNvPr id="6"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A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A5FC4"/>
                </a:solidFill>
                <a:latin typeface="JetBrains Mono" pitchFamily="49" charset="0"/>
                <a:ea typeface="JetBrains Mono" pitchFamily="49" charset="-122"/>
                <a:cs typeface="JetBrains Mono" pitchFamily="49" charset="-120"/>
              </a:rPr>
              <a:t>결과를 읽을 때 주의할 점</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02E"/>
                </a:solidFill>
                <a:latin typeface="IBM Plex Sans KR" pitchFamily="34" charset="0"/>
                <a:ea typeface="IBM Plex Sans KR" pitchFamily="34" charset="-122"/>
                <a:cs typeface="IBM Plex Sans KR" pitchFamily="34" charset="-120"/>
              </a:rPr>
              <a:t>이 실험이 말해 주지 않는 것</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2515245"/>
        </p:xfrm>
        <a:graphic>
          <a:graphicData uri="http://schemas.openxmlformats.org/drawingml/2006/table">
            <a:tbl>
              <a:tblPr/>
              <a:tblGrid>
                <a:gridCol w="2743962"/>
                <a:gridCol w="7809738"/>
              </a:tblGrid>
              <a:tr h="359321">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위협</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AFAEA7"/>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AFAEA7"/>
                      </a:solidFill>
                      <a:prstDash val="solid"/>
                      <a:round/>
                      <a:headEnd type="none" w="med" len="med"/>
                      <a:tailEnd type="none" w="med" len="med"/>
                    </a:lnB>
                    <a:solidFill>
                      <a:srgbClr val="DBD9D1"/>
                    </a:solidFill>
                  </a:tcPr>
                </a:tc>
                <a:tc>
                  <a:txBody>
                    <a:bodyPr/>
                    <a:lstStyle/>
                    <a:p>
                      <a:pPr indent="0" marL="0">
                        <a:lnSpc>
                          <a:spcPts val="1820"/>
                        </a:lnSpc>
                        <a:buNone/>
                      </a:pPr>
                      <a:r>
                        <a:rPr lang="en-US" sz="1300" b="1" dirty="0">
                          <a:solidFill>
                            <a:srgbClr val="2F3A4A"/>
                          </a:solidFill>
                          <a:latin typeface="IBM Plex Sans KR" pitchFamily="34" charset="0"/>
                          <a:ea typeface="IBM Plex Sans KR" pitchFamily="34" charset="-122"/>
                          <a:cs typeface="IBM Plex Sans KR" pitchFamily="34" charset="-120"/>
                        </a:rPr>
                        <a:t>영향과 대응</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AFAEA7"/>
                      </a:solidFill>
                      <a:prstDash val="solid"/>
                      <a:round/>
                      <a:headEnd type="none" w="med" len="med"/>
                      <a:tailEnd type="none" w="med" len="med"/>
                    </a:lnL>
                    <a:lnR w="12700" cap="flat" cmpd="sng" algn="ctr">
                      <a:solidFill>
                        <a:srgbClr val="AFAEA7"/>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AFAEA7"/>
                      </a:solidFill>
                      <a:prstDash val="solid"/>
                      <a:round/>
                      <a:headEnd type="none" w="med" len="med"/>
                      <a:tailEnd type="none" w="med" len="med"/>
                    </a:lnB>
                    <a:solidFill>
                      <a:srgbClr val="DBD9D1"/>
                    </a:solidFill>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표본 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AFAEA7"/>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quick은 seed 1개·데이터셋 2개. 결론은 full(seed 3개)의 승률과 SE로 판단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AFAEA7"/>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튜닝 예산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예산을 늘리면 부스팅 순위가 바뀔 수 있음. 예산별 곡선으로 "동등해지는 비용"을 추정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범주형 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구간화는 정보 손실을 동반함. Part A의 자연 범주형 데이터와 함께 해석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결측 메커니즘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MCAR만 실험함. 실제 데이터의 MNAR(결측 자체가 신호)은 다를 수 있음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하드웨어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시간은 GPU 종류에 크게 좌우됨. 비용 비교는 같은 환경에서만 유효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r h="359321">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과제 범위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c>
                  <a:txBody>
                    <a:bodyPr/>
                    <a:lstStyle/>
                    <a:p>
                      <a:pPr indent="0" marL="0">
                        <a:lnSpc>
                          <a:spcPts val="1820"/>
                        </a:lnSpc>
                        <a:buNone/>
                      </a:pPr>
                      <a:r>
                        <a:rPr lang="en-US" sz="1300" dirty="0">
                          <a:solidFill>
                            <a:srgbClr val="2F3A4A"/>
                          </a:solidFill>
                          <a:latin typeface="IBM Plex Sans KR" pitchFamily="34" charset="0"/>
                          <a:ea typeface="IBM Plex Sans KR" pitchFamily="34" charset="-122"/>
                          <a:cs typeface="IBM Plex Sans KR" pitchFamily="34" charset="-120"/>
                        </a:rPr>
                        <a:t>이진 분류만 다룸. 회귀·다중분류·분포 이동은 다루지 않음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BCBBB4"/>
                      </a:solidFill>
                      <a:prstDash val="solid"/>
                      <a:round/>
                      <a:headEnd type="none" w="med" len="med"/>
                      <a:tailEnd type="none" w="med" len="med"/>
                    </a:lnB>
                  </a:tcPr>
                </a:tc>
              </a:tr>
            </a:tbl>
          </a:graphicData>
        </a:graphic>
      </p:graphicFrame>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IBM Plex Sans KR" pitchFamily="34" charset="0"/>
                <a:ea typeface="IBM Plex Sans KR" pitchFamily="34" charset="-122"/>
                <a:cs typeface="IBM Plex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B4F2"/>
                </a:solidFill>
                <a:latin typeface="JetBrains Mono" pitchFamily="49" charset="0"/>
                <a:ea typeface="JetBrains Mono" pitchFamily="49" charset="-122"/>
                <a:cs typeface="JetBrains Mono" pitchFamily="49" charset="-120"/>
              </a:rPr>
              <a:t>토론</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5F0"/>
                </a:solidFill>
                <a:latin typeface="IBM Plex Sans KR" pitchFamily="34" charset="0"/>
                <a:ea typeface="IBM Plex Sans KR" pitchFamily="34" charset="-122"/>
                <a:cs typeface="IBM Plex Sans KR" pitchFamily="34" charset="-120"/>
              </a:rPr>
              <a:t>함께 생각해 볼 질문</a:t>
            </a:r>
            <a:endParaRPr lang="en-US" sz="3200" dirty="0"/>
          </a:p>
        </p:txBody>
      </p:sp>
      <p:sp>
        <p:nvSpPr>
          <p:cNvPr id="4" name="Shape 2"/>
          <p:cNvSpPr/>
          <p:nvPr/>
        </p:nvSpPr>
        <p:spPr>
          <a:xfrm>
            <a:off x="812800" y="1906191"/>
            <a:ext cx="10566400" cy="0"/>
          </a:xfrm>
          <a:prstGeom prst="line">
            <a:avLst/>
          </a:prstGeom>
          <a:noFill/>
          <a:ln w="12700">
            <a:solidFill>
              <a:srgbClr val="34425A"/>
            </a:solidFill>
            <a:prstDash val="solid"/>
          </a:ln>
        </p:spPr>
      </p:sp>
      <p:sp>
        <p:nvSpPr>
          <p:cNvPr id="5" name="Text 3"/>
          <p:cNvSpPr/>
          <p:nvPr/>
        </p:nvSpPr>
        <p:spPr>
          <a:xfrm>
            <a:off x="812800" y="209034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5F0"/>
                </a:solidFill>
                <a:latin typeface="IBM Plex Sans KR" pitchFamily="34" charset="0"/>
                <a:ea typeface="IBM Plex Sans KR" pitchFamily="34" charset="-122"/>
                <a:cs typeface="IBM Plex Sans KR" pitchFamily="34" charset="-120"/>
              </a:rPr>
              <a:t>1. 우리 프로젝트의 표 데이터는 이 지도의 어디에 있는가? 행 수, 결측, 범주형, 불균형</a:t>
            </a:r>
            <a:endParaRPr lang="en-US" sz="1700" dirty="0"/>
          </a:p>
        </p:txBody>
      </p:sp>
      <p:sp>
        <p:nvSpPr>
          <p:cNvPr id="6" name="Shape 4"/>
          <p:cNvSpPr/>
          <p:nvPr/>
        </p:nvSpPr>
        <p:spPr>
          <a:xfrm>
            <a:off x="812800" y="2576711"/>
            <a:ext cx="10566400" cy="0"/>
          </a:xfrm>
          <a:prstGeom prst="line">
            <a:avLst/>
          </a:prstGeom>
          <a:noFill/>
          <a:ln w="12700">
            <a:solidFill>
              <a:srgbClr val="34425A"/>
            </a:solidFill>
            <a:prstDash val="solid"/>
          </a:ln>
        </p:spPr>
      </p:sp>
      <p:sp>
        <p:nvSpPr>
          <p:cNvPr id="7" name="Text 5"/>
          <p:cNvSpPr/>
          <p:nvPr/>
        </p:nvSpPr>
        <p:spPr>
          <a:xfrm>
            <a:off x="812800" y="276086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5F0"/>
                </a:solidFill>
                <a:latin typeface="IBM Plex Sans KR" pitchFamily="34" charset="0"/>
                <a:ea typeface="IBM Plex Sans KR" pitchFamily="34" charset="-122"/>
                <a:cs typeface="IBM Plex Sans KR" pitchFamily="34" charset="-120"/>
              </a:rPr>
              <a:t>2. 튜닝 예산을 몇 배로 늘려야 부스팅이 FM을 따라잡는가? 그 시간은 GPU 비용보다 싼가</a:t>
            </a:r>
            <a:endParaRPr lang="en-US" sz="1700" dirty="0"/>
          </a:p>
        </p:txBody>
      </p:sp>
      <p:sp>
        <p:nvSpPr>
          <p:cNvPr id="8" name="Shape 6"/>
          <p:cNvSpPr/>
          <p:nvPr/>
        </p:nvSpPr>
        <p:spPr>
          <a:xfrm>
            <a:off x="812800" y="3247231"/>
            <a:ext cx="10566400" cy="0"/>
          </a:xfrm>
          <a:prstGeom prst="line">
            <a:avLst/>
          </a:prstGeom>
          <a:noFill/>
          <a:ln w="12700">
            <a:solidFill>
              <a:srgbClr val="34425A"/>
            </a:solidFill>
            <a:prstDash val="solid"/>
          </a:ln>
        </p:spPr>
      </p:sp>
      <p:sp>
        <p:nvSpPr>
          <p:cNvPr id="9" name="Text 7"/>
          <p:cNvSpPr/>
          <p:nvPr/>
        </p:nvSpPr>
        <p:spPr>
          <a:xfrm>
            <a:off x="812800" y="343138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5F0"/>
                </a:solidFill>
                <a:latin typeface="IBM Plex Sans KR" pitchFamily="34" charset="0"/>
                <a:ea typeface="IBM Plex Sans KR" pitchFamily="34" charset="-122"/>
                <a:cs typeface="IBM Plex Sans KR" pitchFamily="34" charset="-120"/>
              </a:rPr>
              <a:t>3. 추론마다 문맥 전체를 다시 읽는 구조는 실시간 서빙에서 어떤 제약이 되는가</a:t>
            </a:r>
            <a:endParaRPr lang="en-US" sz="1700" dirty="0"/>
          </a:p>
        </p:txBody>
      </p:sp>
      <p:sp>
        <p:nvSpPr>
          <p:cNvPr id="10" name="Shape 8"/>
          <p:cNvSpPr/>
          <p:nvPr/>
        </p:nvSpPr>
        <p:spPr>
          <a:xfrm>
            <a:off x="812800" y="3917752"/>
            <a:ext cx="10566400" cy="0"/>
          </a:xfrm>
          <a:prstGeom prst="line">
            <a:avLst/>
          </a:prstGeom>
          <a:noFill/>
          <a:ln w="12700">
            <a:solidFill>
              <a:srgbClr val="34425A"/>
            </a:solidFill>
            <a:prstDash val="solid"/>
          </a:ln>
        </p:spPr>
      </p:sp>
      <p:sp>
        <p:nvSpPr>
          <p:cNvPr id="11" name="Shape 9"/>
          <p:cNvSpPr/>
          <p:nvPr/>
        </p:nvSpPr>
        <p:spPr>
          <a:xfrm>
            <a:off x="812800" y="4588272"/>
            <a:ext cx="10566400" cy="0"/>
          </a:xfrm>
          <a:prstGeom prst="line">
            <a:avLst/>
          </a:prstGeom>
          <a:noFill/>
          <a:ln w="12700">
            <a:solidFill>
              <a:srgbClr val="34425A"/>
            </a:solidFill>
            <a:prstDash val="solid"/>
          </a:ln>
        </p:spPr>
      </p:sp>
      <p:sp>
        <p:nvSpPr>
          <p:cNvPr id="12" name="Text 10"/>
          <p:cNvSpPr/>
          <p:nvPr/>
        </p:nvSpPr>
        <p:spPr>
          <a:xfrm>
            <a:off x="812800" y="4101902"/>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5F0"/>
                </a:solidFill>
                <a:latin typeface="IBM Plex Sans KR" pitchFamily="34" charset="0"/>
                <a:ea typeface="IBM Plex Sans KR" pitchFamily="34" charset="-122"/>
                <a:cs typeface="IBM Plex Sans KR" pitchFamily="34" charset="-120"/>
              </a:rPr>
              <a:t>4. 다음 실험: 분포 이동, MNAR 결측, 6만 행 이상 데이터</a:t>
            </a:r>
            <a:endParaRPr lang="en-US" sz="17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A8"/>
                </a:solidFill>
                <a:latin typeface="IBM Plex Sans KR" pitchFamily="34" charset="0"/>
                <a:ea typeface="IBM Plex Sans KR" pitchFamily="34" charset="-122"/>
                <a:cs typeface="IBM Plex Sans KR" pitchFamily="34" charset="-120"/>
              </a:rPr>
              <a:t>노트북: 10:6/tfm_vs_gbdt_benchmark.ipynb · Colab에서 GPU 런타임으로 실행 · MODE="full"로 바꾸면 결론용 실험</a:t>
            </a:r>
            <a:endParaRPr lang="en-US" sz="1200" dirty="0"/>
          </a:p>
        </p:txBody>
      </p:sp>
    </p:spTree>
  </p:cSld>
  <p:clrMapOvr>
    <a:masterClrMapping/>
  </p:clrMapOvr>
</p:sld>
</file>

<file path=ppt/theme/theme1.xml><?xml version="1.0" encoding="utf-8"?>
<a:theme xmlns:a="http://schemas.openxmlformats.org/drawingml/2006/main" name="Tabular Foundation Model vs 부스팅: 조건별 비교">
  <a:themeElements>
    <a:clrScheme name="Tabular Foundation Model vs 부스팅: 조건별 비교">
      <a:dk1>
        <a:srgbClr val="16202E"/>
      </a:dk1>
      <a:lt1>
        <a:srgbClr val="F6F5F0"/>
      </a:lt1>
      <a:dk2>
        <a:srgbClr val="4E555F"/>
      </a:dk2>
      <a:lt2>
        <a:srgbClr val="E0E0DD"/>
      </a:lt2>
      <a:accent1>
        <a:srgbClr val="2A5FC4"/>
      </a:accent1>
      <a:accent2>
        <a:srgbClr val="8A3A0E"/>
      </a:accent2>
      <a:accent3>
        <a:srgbClr val="8FB4F2"/>
      </a:accent3>
      <a:accent4>
        <a:srgbClr val="B5490F"/>
      </a:accent4>
      <a:accent5>
        <a:srgbClr val="6A7280"/>
      </a:accent5>
      <a:accent6>
        <a:srgbClr val="4A5568"/>
      </a:accent6>
      <a:hlink>
        <a:srgbClr val="0563C1"/>
      </a:hlink>
      <a:folHlink>
        <a:srgbClr val="954F72"/>
      </a:folHlink>
    </a:clrScheme>
    <a:fontScheme name="Tabular Foundation Model vs 부스팅: 조건별 비교">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Tabular Foundation Model vs 부스팅: 조건별 비교</dc:title>
  <dc:subject/>
  <dc:creator/>
  <cp:lastModifiedBy/>
  <cp:revision>1</cp:revision>
  <dcterms:created xsi:type="dcterms:W3CDTF">2026-10-06T08:48:57Z</dcterms:created>
  <dcterms:modified xsi:type="dcterms:W3CDTF">2026-10-06T08:48:57Z</dcterms:modified>
</cp:coreProperties>
</file>